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56" r:id="rId5"/>
    <p:sldId id="278" r:id="rId6"/>
    <p:sldId id="280" r:id="rId7"/>
    <p:sldId id="282" r:id="rId8"/>
    <p:sldId id="305" r:id="rId9"/>
    <p:sldId id="304" r:id="rId10"/>
    <p:sldId id="297" r:id="rId11"/>
    <p:sldId id="306" r:id="rId12"/>
    <p:sldId id="298" r:id="rId13"/>
    <p:sldId id="307" r:id="rId14"/>
    <p:sldId id="300" r:id="rId15"/>
    <p:sldId id="308" r:id="rId16"/>
    <p:sldId id="303" r:id="rId17"/>
    <p:sldId id="279" r:id="rId18"/>
    <p:sldId id="302" r:id="rId19"/>
    <p:sldId id="289" r:id="rId20"/>
  </p:sldIdLst>
  <p:sldSz cx="12192000" cy="6858000"/>
  <p:notesSz cx="6858000" cy="9144000"/>
  <p:defaultTextStyle>
    <a:defPPr rtl="0">
      <a:defRPr lang="sk-sk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ADE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2FFF72-357D-41C2-9936-37EECB0A085C}" v="2" dt="2025-11-21T09:24:16.0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redný štýl 2 - zvýrazneni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408" autoAdjust="0"/>
  </p:normalViewPr>
  <p:slideViewPr>
    <p:cSldViewPr snapToGrid="0">
      <p:cViewPr varScale="1">
        <p:scale>
          <a:sx n="43" d="100"/>
          <a:sy n="43" d="100"/>
        </p:scale>
        <p:origin x="2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2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ia Korbeľová" userId="64c5499c86262cb6" providerId="LiveId" clId="{9E0252A0-3BC4-4C0D-9080-01C805B3D282}"/>
    <pc:docChg chg="undo custSel modSld sldOrd">
      <pc:chgData name="Lucia Korbeľová" userId="64c5499c86262cb6" providerId="LiveId" clId="{9E0252A0-3BC4-4C0D-9080-01C805B3D282}" dt="2025-11-21T12:20:43.293" v="39"/>
      <pc:docMkLst>
        <pc:docMk/>
      </pc:docMkLst>
      <pc:sldChg chg="modSp mod ord">
        <pc:chgData name="Lucia Korbeľová" userId="64c5499c86262cb6" providerId="LiveId" clId="{9E0252A0-3BC4-4C0D-9080-01C805B3D282}" dt="2025-11-21T12:20:43.293" v="39"/>
        <pc:sldMkLst>
          <pc:docMk/>
          <pc:sldMk cId="3186966250" sldId="298"/>
        </pc:sldMkLst>
        <pc:picChg chg="mod">
          <ac:chgData name="Lucia Korbeľová" userId="64c5499c86262cb6" providerId="LiveId" clId="{9E0252A0-3BC4-4C0D-9080-01C805B3D282}" dt="2025-11-21T12:20:40.254" v="37" actId="1076"/>
          <ac:picMkLst>
            <pc:docMk/>
            <pc:sldMk cId="3186966250" sldId="298"/>
            <ac:picMk id="10" creationId="{6028EE93-06B8-6336-5A67-0C186932F526}"/>
          </ac:picMkLst>
        </pc:picChg>
      </pc:sldChg>
      <pc:sldChg chg="addSp modSp mod">
        <pc:chgData name="Lucia Korbeľová" userId="64c5499c86262cb6" providerId="LiveId" clId="{9E0252A0-3BC4-4C0D-9080-01C805B3D282}" dt="2025-11-21T09:24:17.974" v="35" actId="20577"/>
        <pc:sldMkLst>
          <pc:docMk/>
          <pc:sldMk cId="3823747059" sldId="305"/>
        </pc:sldMkLst>
        <pc:spChg chg="mod">
          <ac:chgData name="Lucia Korbeľová" userId="64c5499c86262cb6" providerId="LiveId" clId="{9E0252A0-3BC4-4C0D-9080-01C805B3D282}" dt="2025-11-21T09:13:02.822" v="26" actId="1076"/>
          <ac:spMkLst>
            <pc:docMk/>
            <pc:sldMk cId="3823747059" sldId="305"/>
            <ac:spMk id="3" creationId="{6E647BBF-04B8-E1FF-EFED-E905E897363C}"/>
          </ac:spMkLst>
        </pc:spChg>
        <pc:spChg chg="add mod">
          <ac:chgData name="Lucia Korbeľová" userId="64c5499c86262cb6" providerId="LiveId" clId="{9E0252A0-3BC4-4C0D-9080-01C805B3D282}" dt="2025-11-21T09:24:17.974" v="35" actId="20577"/>
          <ac:spMkLst>
            <pc:docMk/>
            <pc:sldMk cId="3823747059" sldId="305"/>
            <ac:spMk id="5" creationId="{308CF3DB-3B7C-2D50-AA00-90223B2D77E5}"/>
          </ac:spMkLst>
        </pc:spChg>
        <pc:picChg chg="mod ord">
          <ac:chgData name="Lucia Korbeľová" userId="64c5499c86262cb6" providerId="LiveId" clId="{9E0252A0-3BC4-4C0D-9080-01C805B3D282}" dt="2025-11-21T09:12:45.835" v="25" actId="1076"/>
          <ac:picMkLst>
            <pc:docMk/>
            <pc:sldMk cId="3823747059" sldId="305"/>
            <ac:picMk id="6" creationId="{F3A61172-A453-119D-5DEE-FFEBEA753C57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github.com/lk0103/ROCF_score_classification/tree/main" TargetMode="External"/><Relationship Id="rId1" Type="http://schemas.openxmlformats.org/officeDocument/2006/relationships/hyperlink" Target="https://davinci.fmph.uniba.sk/~korbelova19/masters_thesis/masters_thesis_ROCF.html" TargetMode="Externa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hyperlink" Target="https://davinci.fmph.uniba.sk/~korbelova19/masters_thesis/masters_thesis_ROCF.html" TargetMode="External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hyperlink" Target="https://github.com/lk0103/ROCF_score_classification/tree/main" TargetMode="Externa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2C08E98-5B0E-4537-8DB8-A57BFF1EB79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7AAE2C47-38C9-4D09-8049-F81CE947133D}">
      <dgm:prSet custT="1"/>
      <dgm:spPr/>
      <dgm:t>
        <a:bodyPr/>
        <a:lstStyle/>
        <a:p>
          <a:r>
            <a:rPr lang="en-US" sz="2400" dirty="0"/>
            <a:t>Master’s Thesis web page: </a:t>
          </a:r>
          <a:r>
            <a:rPr lang="sk-SK" sz="2400" dirty="0">
              <a:hlinkClick xmlns:r="http://schemas.openxmlformats.org/officeDocument/2006/relationships" r:id="rId1"/>
            </a:rPr>
            <a:t>https://davinci.fmph.uniba.sk/~korbelova19/masters_thesis/masters_thesis_ROCF.html</a:t>
          </a:r>
          <a:r>
            <a:rPr lang="en-US" sz="2400" dirty="0"/>
            <a:t> </a:t>
          </a:r>
        </a:p>
      </dgm:t>
    </dgm:pt>
    <dgm:pt modelId="{DFC7F932-E88F-48F9-AFAF-1606BB31CF2B}" type="parTrans" cxnId="{36F8B895-97F6-46BF-8520-25254B8DA988}">
      <dgm:prSet/>
      <dgm:spPr/>
      <dgm:t>
        <a:bodyPr/>
        <a:lstStyle/>
        <a:p>
          <a:endParaRPr lang="en-US"/>
        </a:p>
      </dgm:t>
    </dgm:pt>
    <dgm:pt modelId="{AB06E507-A45D-465E-8DB0-159F7BCF792D}" type="sibTrans" cxnId="{36F8B895-97F6-46BF-8520-25254B8DA988}">
      <dgm:prSet/>
      <dgm:spPr/>
      <dgm:t>
        <a:bodyPr/>
        <a:lstStyle/>
        <a:p>
          <a:endParaRPr lang="en-US"/>
        </a:p>
      </dgm:t>
    </dgm:pt>
    <dgm:pt modelId="{D4F2246E-296C-4A2A-82DB-40483B586A65}">
      <dgm:prSet/>
      <dgm:spPr/>
      <dgm:t>
        <a:bodyPr/>
        <a:lstStyle/>
        <a:p>
          <a:r>
            <a:rPr lang="en-US"/>
            <a:t>Prototype of Master’s Thesis on github: </a:t>
          </a:r>
          <a:r>
            <a:rPr lang="en-US">
              <a:hlinkClick xmlns:r="http://schemas.openxmlformats.org/officeDocument/2006/relationships" r:id="rId2"/>
            </a:rPr>
            <a:t>https://github.com/lk0103/ROCF_score_classification/tree/main</a:t>
          </a:r>
          <a:r>
            <a:rPr lang="en-US"/>
            <a:t> </a:t>
          </a:r>
        </a:p>
      </dgm:t>
    </dgm:pt>
    <dgm:pt modelId="{45C7A867-D139-46CF-8522-9058D1C18EC4}" type="parTrans" cxnId="{3D86A11E-AA9C-4A8C-9C9C-A54507A5AA35}">
      <dgm:prSet/>
      <dgm:spPr/>
      <dgm:t>
        <a:bodyPr/>
        <a:lstStyle/>
        <a:p>
          <a:endParaRPr lang="en-US"/>
        </a:p>
      </dgm:t>
    </dgm:pt>
    <dgm:pt modelId="{9DC17BE2-6601-4A17-82C6-6608ECB33FE2}" type="sibTrans" cxnId="{3D86A11E-AA9C-4A8C-9C9C-A54507A5AA35}">
      <dgm:prSet/>
      <dgm:spPr/>
      <dgm:t>
        <a:bodyPr/>
        <a:lstStyle/>
        <a:p>
          <a:endParaRPr lang="en-US"/>
        </a:p>
      </dgm:t>
    </dgm:pt>
    <dgm:pt modelId="{A05DABD0-85A0-492A-B9A5-6E0DECFEEFB8}" type="pres">
      <dgm:prSet presAssocID="{A2C08E98-5B0E-4537-8DB8-A57BFF1EB79E}" presName="root" presStyleCnt="0">
        <dgm:presLayoutVars>
          <dgm:dir/>
          <dgm:resizeHandles val="exact"/>
        </dgm:presLayoutVars>
      </dgm:prSet>
      <dgm:spPr/>
    </dgm:pt>
    <dgm:pt modelId="{7845712D-539D-456C-B514-BBC3E68432E9}" type="pres">
      <dgm:prSet presAssocID="{7AAE2C47-38C9-4D09-8049-F81CE947133D}" presName="compNode" presStyleCnt="0"/>
      <dgm:spPr/>
    </dgm:pt>
    <dgm:pt modelId="{92CB3635-973C-4FDB-9E90-47862C3B6DC1}" type="pres">
      <dgm:prSet presAssocID="{7AAE2C47-38C9-4D09-8049-F81CE947133D}" presName="bgRect" presStyleLbl="bgShp" presStyleIdx="0" presStyleCnt="2"/>
      <dgm:spPr/>
    </dgm:pt>
    <dgm:pt modelId="{07A30194-01F0-4FAE-A736-8C78DD80EFB3}" type="pres">
      <dgm:prSet presAssocID="{7AAE2C47-38C9-4D09-8049-F81CE947133D}" presName="iconRect" presStyleLbl="node1" presStyleIdx="0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pojenie"/>
        </a:ext>
      </dgm:extLst>
    </dgm:pt>
    <dgm:pt modelId="{E0EB4B9D-914E-47B8-946B-097FD7BA1F8F}" type="pres">
      <dgm:prSet presAssocID="{7AAE2C47-38C9-4D09-8049-F81CE947133D}" presName="spaceRect" presStyleCnt="0"/>
      <dgm:spPr/>
    </dgm:pt>
    <dgm:pt modelId="{F890DC17-8049-47DC-8A03-B059CF1EA13C}" type="pres">
      <dgm:prSet presAssocID="{7AAE2C47-38C9-4D09-8049-F81CE947133D}" presName="parTx" presStyleLbl="revTx" presStyleIdx="0" presStyleCnt="2">
        <dgm:presLayoutVars>
          <dgm:chMax val="0"/>
          <dgm:chPref val="0"/>
        </dgm:presLayoutVars>
      </dgm:prSet>
      <dgm:spPr/>
    </dgm:pt>
    <dgm:pt modelId="{263A9ABA-328B-46C7-A2DA-723CA80A4B02}" type="pres">
      <dgm:prSet presAssocID="{AB06E507-A45D-465E-8DB0-159F7BCF792D}" presName="sibTrans" presStyleCnt="0"/>
      <dgm:spPr/>
    </dgm:pt>
    <dgm:pt modelId="{A9BC7C61-0B1D-47DE-85C3-D4E94BBD961B}" type="pres">
      <dgm:prSet presAssocID="{D4F2246E-296C-4A2A-82DB-40483B586A65}" presName="compNode" presStyleCnt="0"/>
      <dgm:spPr/>
    </dgm:pt>
    <dgm:pt modelId="{8F33CC69-5442-46D8-843B-B65428C7E3F5}" type="pres">
      <dgm:prSet presAssocID="{D4F2246E-296C-4A2A-82DB-40483B586A65}" presName="bgRect" presStyleLbl="bgShp" presStyleIdx="1" presStyleCnt="2"/>
      <dgm:spPr/>
    </dgm:pt>
    <dgm:pt modelId="{CDCE7E28-F775-407D-B554-4F0F986540D7}" type="pres">
      <dgm:prSet presAssocID="{D4F2246E-296C-4A2A-82DB-40483B586A65}" presName="iconRect" presStyleLbl="node1" presStyleIdx="1" presStyleCnt="2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ýskum"/>
        </a:ext>
      </dgm:extLst>
    </dgm:pt>
    <dgm:pt modelId="{3E985D2A-DD5B-4559-B380-803E4805D00C}" type="pres">
      <dgm:prSet presAssocID="{D4F2246E-296C-4A2A-82DB-40483B586A65}" presName="spaceRect" presStyleCnt="0"/>
      <dgm:spPr/>
    </dgm:pt>
    <dgm:pt modelId="{68E11183-045B-40E1-A7D0-4D5E0D4A486B}" type="pres">
      <dgm:prSet presAssocID="{D4F2246E-296C-4A2A-82DB-40483B586A65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D0B5020E-0788-421C-9F15-D68518AA5E88}" type="presOf" srcId="{7AAE2C47-38C9-4D09-8049-F81CE947133D}" destId="{F890DC17-8049-47DC-8A03-B059CF1EA13C}" srcOrd="0" destOrd="0" presId="urn:microsoft.com/office/officeart/2018/2/layout/IconVerticalSolidList"/>
    <dgm:cxn modelId="{3D86A11E-AA9C-4A8C-9C9C-A54507A5AA35}" srcId="{A2C08E98-5B0E-4537-8DB8-A57BFF1EB79E}" destId="{D4F2246E-296C-4A2A-82DB-40483B586A65}" srcOrd="1" destOrd="0" parTransId="{45C7A867-D139-46CF-8522-9058D1C18EC4}" sibTransId="{9DC17BE2-6601-4A17-82C6-6608ECB33FE2}"/>
    <dgm:cxn modelId="{2BFE2466-8926-416F-B533-3B98941C818B}" type="presOf" srcId="{A2C08E98-5B0E-4537-8DB8-A57BFF1EB79E}" destId="{A05DABD0-85A0-492A-B9A5-6E0DECFEEFB8}" srcOrd="0" destOrd="0" presId="urn:microsoft.com/office/officeart/2018/2/layout/IconVerticalSolidList"/>
    <dgm:cxn modelId="{36F8B895-97F6-46BF-8520-25254B8DA988}" srcId="{A2C08E98-5B0E-4537-8DB8-A57BFF1EB79E}" destId="{7AAE2C47-38C9-4D09-8049-F81CE947133D}" srcOrd="0" destOrd="0" parTransId="{DFC7F932-E88F-48F9-AFAF-1606BB31CF2B}" sibTransId="{AB06E507-A45D-465E-8DB0-159F7BCF792D}"/>
    <dgm:cxn modelId="{F91A8BFF-8EB5-4C53-9541-E80AD881A384}" type="presOf" srcId="{D4F2246E-296C-4A2A-82DB-40483B586A65}" destId="{68E11183-045B-40E1-A7D0-4D5E0D4A486B}" srcOrd="0" destOrd="0" presId="urn:microsoft.com/office/officeart/2018/2/layout/IconVerticalSolidList"/>
    <dgm:cxn modelId="{9472133C-A646-410B-8247-B51D54175444}" type="presParOf" srcId="{A05DABD0-85A0-492A-B9A5-6E0DECFEEFB8}" destId="{7845712D-539D-456C-B514-BBC3E68432E9}" srcOrd="0" destOrd="0" presId="urn:microsoft.com/office/officeart/2018/2/layout/IconVerticalSolidList"/>
    <dgm:cxn modelId="{4DDF1E9C-6015-42C1-82F7-D8D4593993D7}" type="presParOf" srcId="{7845712D-539D-456C-B514-BBC3E68432E9}" destId="{92CB3635-973C-4FDB-9E90-47862C3B6DC1}" srcOrd="0" destOrd="0" presId="urn:microsoft.com/office/officeart/2018/2/layout/IconVerticalSolidList"/>
    <dgm:cxn modelId="{407D54B1-F349-49E3-9986-DD50220669D5}" type="presParOf" srcId="{7845712D-539D-456C-B514-BBC3E68432E9}" destId="{07A30194-01F0-4FAE-A736-8C78DD80EFB3}" srcOrd="1" destOrd="0" presId="urn:microsoft.com/office/officeart/2018/2/layout/IconVerticalSolidList"/>
    <dgm:cxn modelId="{A3C0C6D2-D5A2-4674-AB74-E705D2B7E1F2}" type="presParOf" srcId="{7845712D-539D-456C-B514-BBC3E68432E9}" destId="{E0EB4B9D-914E-47B8-946B-097FD7BA1F8F}" srcOrd="2" destOrd="0" presId="urn:microsoft.com/office/officeart/2018/2/layout/IconVerticalSolidList"/>
    <dgm:cxn modelId="{0A3848FB-C0EA-4D08-AE6B-C62D43A91938}" type="presParOf" srcId="{7845712D-539D-456C-B514-BBC3E68432E9}" destId="{F890DC17-8049-47DC-8A03-B059CF1EA13C}" srcOrd="3" destOrd="0" presId="urn:microsoft.com/office/officeart/2018/2/layout/IconVerticalSolidList"/>
    <dgm:cxn modelId="{51C7E574-30BD-4334-9E1E-363AA0238ADF}" type="presParOf" srcId="{A05DABD0-85A0-492A-B9A5-6E0DECFEEFB8}" destId="{263A9ABA-328B-46C7-A2DA-723CA80A4B02}" srcOrd="1" destOrd="0" presId="urn:microsoft.com/office/officeart/2018/2/layout/IconVerticalSolidList"/>
    <dgm:cxn modelId="{CEFA1C06-A649-4409-997A-B261C68BFD49}" type="presParOf" srcId="{A05DABD0-85A0-492A-B9A5-6E0DECFEEFB8}" destId="{A9BC7C61-0B1D-47DE-85C3-D4E94BBD961B}" srcOrd="2" destOrd="0" presId="urn:microsoft.com/office/officeart/2018/2/layout/IconVerticalSolidList"/>
    <dgm:cxn modelId="{8EC712A9-5B80-4503-B2A4-974BD72DFC6A}" type="presParOf" srcId="{A9BC7C61-0B1D-47DE-85C3-D4E94BBD961B}" destId="{8F33CC69-5442-46D8-843B-B65428C7E3F5}" srcOrd="0" destOrd="0" presId="urn:microsoft.com/office/officeart/2018/2/layout/IconVerticalSolidList"/>
    <dgm:cxn modelId="{D8FDE769-B700-4F06-92CA-52474B9D9BF5}" type="presParOf" srcId="{A9BC7C61-0B1D-47DE-85C3-D4E94BBD961B}" destId="{CDCE7E28-F775-407D-B554-4F0F986540D7}" srcOrd="1" destOrd="0" presId="urn:microsoft.com/office/officeart/2018/2/layout/IconVerticalSolidList"/>
    <dgm:cxn modelId="{A427EED4-F4E2-4DDB-9ACB-C4C99D025D1E}" type="presParOf" srcId="{A9BC7C61-0B1D-47DE-85C3-D4E94BBD961B}" destId="{3E985D2A-DD5B-4559-B380-803E4805D00C}" srcOrd="2" destOrd="0" presId="urn:microsoft.com/office/officeart/2018/2/layout/IconVerticalSolidList"/>
    <dgm:cxn modelId="{59D542EE-5146-4B6E-82AD-FB5B92DE8CE3}" type="presParOf" srcId="{A9BC7C61-0B1D-47DE-85C3-D4E94BBD961B}" destId="{68E11183-045B-40E1-A7D0-4D5E0D4A486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CB3635-973C-4FDB-9E90-47862C3B6DC1}">
      <dsp:nvSpPr>
        <dsp:cNvPr id="0" name=""/>
        <dsp:cNvSpPr/>
      </dsp:nvSpPr>
      <dsp:spPr>
        <a:xfrm>
          <a:off x="0" y="617439"/>
          <a:ext cx="10191560" cy="116928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A30194-01F0-4FAE-A736-8C78DD80EFB3}">
      <dsp:nvSpPr>
        <dsp:cNvPr id="0" name=""/>
        <dsp:cNvSpPr/>
      </dsp:nvSpPr>
      <dsp:spPr>
        <a:xfrm>
          <a:off x="353709" y="880529"/>
          <a:ext cx="643108" cy="64310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90DC17-8049-47DC-8A03-B059CF1EA13C}">
      <dsp:nvSpPr>
        <dsp:cNvPr id="0" name=""/>
        <dsp:cNvSpPr/>
      </dsp:nvSpPr>
      <dsp:spPr>
        <a:xfrm>
          <a:off x="1350528" y="617439"/>
          <a:ext cx="8799540" cy="12435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605" tIns="131605" rIns="131605" bIns="131605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Master’s Thesis web page: </a:t>
          </a:r>
          <a:r>
            <a:rPr lang="sk-SK" sz="2400" kern="1200" dirty="0">
              <a:hlinkClick xmlns:r="http://schemas.openxmlformats.org/officeDocument/2006/relationships" r:id="rId3"/>
            </a:rPr>
            <a:t>https://davinci.fmph.uniba.sk/~korbelova19/masters_thesis/masters_thesis_ROCF.html</a:t>
          </a:r>
          <a:r>
            <a:rPr lang="en-US" sz="2400" kern="1200" dirty="0"/>
            <a:t> </a:t>
          </a:r>
        </a:p>
      </dsp:txBody>
      <dsp:txXfrm>
        <a:off x="1350528" y="617439"/>
        <a:ext cx="8799540" cy="1243511"/>
      </dsp:txXfrm>
    </dsp:sp>
    <dsp:sp modelId="{8F33CC69-5442-46D8-843B-B65428C7E3F5}">
      <dsp:nvSpPr>
        <dsp:cNvPr id="0" name=""/>
        <dsp:cNvSpPr/>
      </dsp:nvSpPr>
      <dsp:spPr>
        <a:xfrm>
          <a:off x="0" y="2162408"/>
          <a:ext cx="10191560" cy="116928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CE7E28-F775-407D-B554-4F0F986540D7}">
      <dsp:nvSpPr>
        <dsp:cNvPr id="0" name=""/>
        <dsp:cNvSpPr/>
      </dsp:nvSpPr>
      <dsp:spPr>
        <a:xfrm>
          <a:off x="353709" y="2425498"/>
          <a:ext cx="643108" cy="643108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E11183-045B-40E1-A7D0-4D5E0D4A486B}">
      <dsp:nvSpPr>
        <dsp:cNvPr id="0" name=""/>
        <dsp:cNvSpPr/>
      </dsp:nvSpPr>
      <dsp:spPr>
        <a:xfrm>
          <a:off x="1350528" y="2162408"/>
          <a:ext cx="8799540" cy="12435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605" tIns="131605" rIns="131605" bIns="13160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Prototype of Master’s Thesis on github: </a:t>
          </a:r>
          <a:r>
            <a:rPr lang="en-US" sz="2500" kern="1200">
              <a:hlinkClick xmlns:r="http://schemas.openxmlformats.org/officeDocument/2006/relationships" r:id="rId6"/>
            </a:rPr>
            <a:t>https://github.com/lk0103/ROCF_score_classification/tree/main</a:t>
          </a:r>
          <a:r>
            <a:rPr lang="en-US" sz="2500" kern="1200"/>
            <a:t> </a:t>
          </a:r>
        </a:p>
      </dsp:txBody>
      <dsp:txXfrm>
        <a:off x="1350528" y="2162408"/>
        <a:ext cx="8799540" cy="12435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á hlavič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sk-SK" dirty="0"/>
          </a:p>
        </p:txBody>
      </p:sp>
      <p:sp>
        <p:nvSpPr>
          <p:cNvPr id="3" name="Zástupný symbol dátumu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DB5D84E-F192-4F2B-B593-180A83D41618}" type="datetime1">
              <a:rPr lang="sk-SK" smtClean="0"/>
              <a:t>21. 11. 2025</a:t>
            </a:fld>
            <a:endParaRPr lang="sk-SK" dirty="0"/>
          </a:p>
        </p:txBody>
      </p:sp>
      <p:sp>
        <p:nvSpPr>
          <p:cNvPr id="4" name="Zástupný symbol päty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sk-SK" dirty="0"/>
          </a:p>
        </p:txBody>
      </p:sp>
      <p:sp>
        <p:nvSpPr>
          <p:cNvPr id="5" name="Zástupné číslo snímky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B53ADFC-ABB8-401A-BB24-33FDAFEDCEBD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73324930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hlavičky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sk-SK" noProof="0" dirty="0"/>
          </a:p>
        </p:txBody>
      </p:sp>
      <p:sp>
        <p:nvSpPr>
          <p:cNvPr id="3" name="Zástupný symbol dátum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223CF208-1976-478C-ACF2-425B24589165}" type="datetime1">
              <a:rPr lang="sk-SK" noProof="0" smtClean="0"/>
              <a:t>21. 11. 2025</a:t>
            </a:fld>
            <a:endParaRPr lang="sk-SK" noProof="0" dirty="0"/>
          </a:p>
        </p:txBody>
      </p:sp>
      <p:sp>
        <p:nvSpPr>
          <p:cNvPr id="4" name="Zástupný symbol obrázka snímk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sk-SK" noProof="0" dirty="0"/>
          </a:p>
        </p:txBody>
      </p:sp>
      <p:sp>
        <p:nvSpPr>
          <p:cNvPr id="5" name="Zástupné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sk-SK" noProof="0" dirty="0"/>
              <a:t>Kliknutím upravíte štýly predlohy textu</a:t>
            </a:r>
          </a:p>
          <a:p>
            <a:pPr lvl="1" rtl="0"/>
            <a:r>
              <a:rPr lang="sk-SK" noProof="0" dirty="0"/>
              <a:t>Druhá úroveň</a:t>
            </a:r>
          </a:p>
          <a:p>
            <a:pPr lvl="2" rtl="0"/>
            <a:r>
              <a:rPr lang="sk-SK" noProof="0" dirty="0"/>
              <a:t>Tretia úroveň</a:t>
            </a:r>
          </a:p>
          <a:p>
            <a:pPr lvl="3" rtl="0"/>
            <a:r>
              <a:rPr lang="sk-SK" noProof="0" dirty="0"/>
              <a:t>Štvrtá úroveň</a:t>
            </a:r>
          </a:p>
          <a:p>
            <a:pPr lvl="4" rtl="0"/>
            <a:r>
              <a:rPr lang="sk-SK" noProof="0" dirty="0"/>
              <a:t>Piata úroveň</a:t>
            </a:r>
          </a:p>
        </p:txBody>
      </p:sp>
      <p:sp>
        <p:nvSpPr>
          <p:cNvPr id="6" name="Zástupnáb pät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sk-SK" noProof="0" dirty="0"/>
          </a:p>
        </p:txBody>
      </p:sp>
      <p:sp>
        <p:nvSpPr>
          <p:cNvPr id="7" name="Zástupné číslo snímk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725628-3A68-42F4-BA86-981817953149}" type="slidenum">
              <a:rPr lang="sk-SK" noProof="0" smtClean="0"/>
              <a:t>‹#›</a:t>
            </a:fld>
            <a:endParaRPr lang="sk-SK" noProof="0" dirty="0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obrázka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é poznámk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sk-SK" dirty="0"/>
          </a:p>
        </p:txBody>
      </p:sp>
      <p:sp>
        <p:nvSpPr>
          <p:cNvPr id="4" name="Zástupné číslo snímky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sk-SK" smtClean="0"/>
              <a:t>1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859257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obrázka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é poznámk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sk-SK" dirty="0"/>
          </a:p>
        </p:txBody>
      </p:sp>
      <p:sp>
        <p:nvSpPr>
          <p:cNvPr id="4" name="Zástupné číslo snímky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sk-SK" smtClean="0"/>
              <a:t>16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983707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dĺžnik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11" name="Ová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sk-SK" noProof="0"/>
              <a:t>Kliknutím upravte štýl predlohy nadpisu</a:t>
            </a:r>
            <a:endParaRPr lang="sk-SK" noProof="0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sk-SK" noProof="0"/>
              <a:t>Kliknutím upravte štýl predlohy podnadpisu</a:t>
            </a:r>
            <a:endParaRPr lang="sk-SK" noProof="0" dirty="0"/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fld id="{C4476689-976C-4EC1-A813-CB165F1A6E9F}" type="datetime1">
              <a:rPr lang="sk-SK" noProof="0" smtClean="0"/>
              <a:t>21. 11. 2025</a:t>
            </a:fld>
            <a:endParaRPr lang="sk-SK" noProof="0" dirty="0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k-SK" noProof="0" dirty="0"/>
          </a:p>
        </p:txBody>
      </p:sp>
      <p:sp>
        <p:nvSpPr>
          <p:cNvPr id="6" name="Zástupné číslo snímky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sk-SK" noProof="0" smtClean="0"/>
              <a:t>‹#›</a:t>
            </a:fld>
            <a:endParaRPr lang="sk-SK" noProof="0" dirty="0"/>
          </a:p>
        </p:txBody>
      </p:sp>
      <p:cxnSp>
        <p:nvCxnSpPr>
          <p:cNvPr id="8" name="Priama spojnica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 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sk-SK" noProof="0"/>
              <a:t>Kliknutím upravte štýl predlohy nadpisu</a:t>
            </a:r>
            <a:endParaRPr lang="sk-SK" noProof="0" dirty="0"/>
          </a:p>
        </p:txBody>
      </p:sp>
      <p:sp>
        <p:nvSpPr>
          <p:cNvPr id="3" name="Zástupný obsah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sk-SK" noProof="0"/>
              <a:t>Kliknite sem a upravte štýly predlohy textu</a:t>
            </a:r>
          </a:p>
          <a:p>
            <a:pPr lvl="1" rtl="0"/>
            <a:r>
              <a:rPr lang="sk-SK" noProof="0"/>
              <a:t>Druhá úroveň</a:t>
            </a:r>
          </a:p>
          <a:p>
            <a:pPr lvl="2" rtl="0"/>
            <a:r>
              <a:rPr lang="sk-SK" noProof="0"/>
              <a:t>Tretia úroveň</a:t>
            </a:r>
          </a:p>
          <a:p>
            <a:pPr lvl="3" rtl="0"/>
            <a:r>
              <a:rPr lang="sk-SK" noProof="0"/>
              <a:t>Štvrtá úroveň</a:t>
            </a:r>
          </a:p>
          <a:p>
            <a:pPr lvl="4" rtl="0"/>
            <a:r>
              <a:rPr lang="sk-SK" noProof="0"/>
              <a:t>Piata úroveň</a:t>
            </a:r>
            <a:endParaRPr lang="sk-SK" noProof="0" dirty="0"/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1A21A55-AEB5-4F2C-B4CB-D2796BA7B980}" type="datetime1">
              <a:rPr lang="sk-SK" noProof="0" smtClean="0"/>
              <a:t>21. 11. 2025</a:t>
            </a:fld>
            <a:endParaRPr lang="sk-SK" noProof="0" dirty="0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k-SK" noProof="0" dirty="0"/>
          </a:p>
        </p:txBody>
      </p:sp>
      <p:sp>
        <p:nvSpPr>
          <p:cNvPr id="6" name="Zástupné číslo snímky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sk-SK" noProof="0" smtClean="0"/>
              <a:t>‹#›</a:t>
            </a:fld>
            <a:endParaRPr lang="sk-SK" noProof="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dĺžnik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á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b="0" spc="200" baseline="0"/>
            </a:lvl1pPr>
          </a:lstStyle>
          <a:p>
            <a:pPr rtl="0"/>
            <a:r>
              <a:rPr lang="sk-SK" noProof="0"/>
              <a:t>Kliknutím upravte štýl predlohy nadpisu</a:t>
            </a:r>
            <a:endParaRPr lang="sk-SK" noProof="0" dirty="0"/>
          </a:p>
        </p:txBody>
      </p:sp>
      <p:sp>
        <p:nvSpPr>
          <p:cNvPr id="3" name="Zástupný text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sk-SK" noProof="0"/>
              <a:t>Kliknite sem a upravte štýly predlohy textu</a:t>
            </a:r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E5AD815-99D0-49C0-AD4C-5E4CDDDD9AC7}" type="datetime1">
              <a:rPr lang="sk-SK" noProof="0" smtClean="0"/>
              <a:t>21. 11. 2025</a:t>
            </a:fld>
            <a:endParaRPr lang="sk-SK" noProof="0" dirty="0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k-SK" noProof="0" dirty="0"/>
          </a:p>
        </p:txBody>
      </p:sp>
      <p:sp>
        <p:nvSpPr>
          <p:cNvPr id="6" name="Zástupné číslo snímky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sk-SK" noProof="0" smtClean="0"/>
              <a:t>‹#›</a:t>
            </a:fld>
            <a:endParaRPr lang="sk-SK" noProof="0" dirty="0"/>
          </a:p>
        </p:txBody>
      </p:sp>
      <p:cxnSp>
        <p:nvCxnSpPr>
          <p:cNvPr id="8" name="Priama spojnica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typy obsah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 rtlCol="0"/>
          <a:lstStyle/>
          <a:p>
            <a:pPr rtl="0"/>
            <a:r>
              <a:rPr lang="sk-SK" noProof="0"/>
              <a:t>Kliknutím upravte štýl predlohy nadpisu</a:t>
            </a:r>
            <a:endParaRPr lang="sk-SK" noProof="0" dirty="0"/>
          </a:p>
        </p:txBody>
      </p:sp>
      <p:sp>
        <p:nvSpPr>
          <p:cNvPr id="3" name="Zástupný obsah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 rtlCol="0"/>
          <a:lstStyle/>
          <a:p>
            <a:pPr lvl="0" rtl="0"/>
            <a:r>
              <a:rPr lang="sk-SK" noProof="0"/>
              <a:t>Kliknite sem a upravte štýly predlohy textu</a:t>
            </a:r>
          </a:p>
          <a:p>
            <a:pPr lvl="1" rtl="0"/>
            <a:r>
              <a:rPr lang="sk-SK" noProof="0"/>
              <a:t>Druhá úroveň</a:t>
            </a:r>
          </a:p>
          <a:p>
            <a:pPr lvl="2" rtl="0"/>
            <a:r>
              <a:rPr lang="sk-SK" noProof="0"/>
              <a:t>Tretia úroveň</a:t>
            </a:r>
          </a:p>
          <a:p>
            <a:pPr lvl="3" rtl="0"/>
            <a:r>
              <a:rPr lang="sk-SK" noProof="0"/>
              <a:t>Štvrtá úroveň</a:t>
            </a:r>
          </a:p>
          <a:p>
            <a:pPr lvl="4" rtl="0"/>
            <a:r>
              <a:rPr lang="sk-SK" noProof="0"/>
              <a:t>Piata úroveň</a:t>
            </a:r>
            <a:endParaRPr lang="sk-SK" noProof="0" dirty="0"/>
          </a:p>
        </p:txBody>
      </p:sp>
      <p:sp>
        <p:nvSpPr>
          <p:cNvPr id="4" name="Zástupný obsah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 rtlCol="0"/>
          <a:lstStyle/>
          <a:p>
            <a:pPr lvl="0" rtl="0"/>
            <a:r>
              <a:rPr lang="sk-SK" noProof="0"/>
              <a:t>Kliknite sem a upravte štýly predlohy textu</a:t>
            </a:r>
          </a:p>
          <a:p>
            <a:pPr lvl="1" rtl="0"/>
            <a:r>
              <a:rPr lang="sk-SK" noProof="0"/>
              <a:t>Druhá úroveň</a:t>
            </a:r>
          </a:p>
          <a:p>
            <a:pPr lvl="2" rtl="0"/>
            <a:r>
              <a:rPr lang="sk-SK" noProof="0"/>
              <a:t>Tretia úroveň</a:t>
            </a:r>
          </a:p>
          <a:p>
            <a:pPr lvl="3" rtl="0"/>
            <a:r>
              <a:rPr lang="sk-SK" noProof="0"/>
              <a:t>Štvrtá úroveň</a:t>
            </a:r>
          </a:p>
          <a:p>
            <a:pPr lvl="4" rtl="0"/>
            <a:r>
              <a:rPr lang="sk-SK" noProof="0"/>
              <a:t>Piata úroveň</a:t>
            </a:r>
            <a:endParaRPr lang="sk-SK" noProof="0" dirty="0"/>
          </a:p>
        </p:txBody>
      </p:sp>
      <p:sp>
        <p:nvSpPr>
          <p:cNvPr id="5" name="Zástupný symbol dátum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754D24A-D6E5-4982-BE31-DFB6B6969672}" type="datetime1">
              <a:rPr lang="sk-SK" noProof="0" smtClean="0"/>
              <a:t>21. 11. 2025</a:t>
            </a:fld>
            <a:endParaRPr lang="sk-SK" noProof="0" dirty="0"/>
          </a:p>
        </p:txBody>
      </p:sp>
      <p:sp>
        <p:nvSpPr>
          <p:cNvPr id="6" name="Zástupný symbol päty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k-SK" noProof="0" dirty="0"/>
          </a:p>
        </p:txBody>
      </p:sp>
      <p:sp>
        <p:nvSpPr>
          <p:cNvPr id="7" name="Zástupné číslo snímky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sk-SK" noProof="0" smtClean="0"/>
              <a:t>‹#›</a:t>
            </a:fld>
            <a:endParaRPr lang="sk-SK" noProof="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adpis 9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sk-SK" noProof="0"/>
              <a:t>Kliknutím upravte štýl predlohy nadpisu</a:t>
            </a:r>
            <a:endParaRPr lang="sk-SK" noProof="0" dirty="0"/>
          </a:p>
        </p:txBody>
      </p:sp>
      <p:sp>
        <p:nvSpPr>
          <p:cNvPr id="3" name="Zástupný objekt textu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sk-SK" noProof="0"/>
              <a:t>Kliknite sem a upravte štýly predlohy textu</a:t>
            </a:r>
          </a:p>
        </p:txBody>
      </p:sp>
      <p:sp>
        <p:nvSpPr>
          <p:cNvPr id="4" name="Zástupný obsah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 rtlCol="0"/>
          <a:lstStyle/>
          <a:p>
            <a:pPr lvl="0" rtl="0"/>
            <a:r>
              <a:rPr lang="sk-SK" noProof="0"/>
              <a:t>Kliknite sem a upravte štýly predlohy textu</a:t>
            </a:r>
          </a:p>
          <a:p>
            <a:pPr lvl="1" rtl="0"/>
            <a:r>
              <a:rPr lang="sk-SK" noProof="0"/>
              <a:t>Druhá úroveň</a:t>
            </a:r>
          </a:p>
          <a:p>
            <a:pPr lvl="2" rtl="0"/>
            <a:r>
              <a:rPr lang="sk-SK" noProof="0"/>
              <a:t>Tretia úroveň</a:t>
            </a:r>
          </a:p>
          <a:p>
            <a:pPr lvl="3" rtl="0"/>
            <a:r>
              <a:rPr lang="sk-SK" noProof="0"/>
              <a:t>Štvrtá úroveň</a:t>
            </a:r>
          </a:p>
          <a:p>
            <a:pPr lvl="4" rtl="0"/>
            <a:r>
              <a:rPr lang="sk-SK" noProof="0"/>
              <a:t>Piata úroveň</a:t>
            </a:r>
            <a:endParaRPr lang="sk-SK" noProof="0" dirty="0"/>
          </a:p>
        </p:txBody>
      </p:sp>
      <p:sp>
        <p:nvSpPr>
          <p:cNvPr id="5" name="Zástupný text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sk-SK" noProof="0"/>
              <a:t>Kliknite sem a upravte štýly predlohy textu</a:t>
            </a:r>
          </a:p>
        </p:txBody>
      </p:sp>
      <p:sp>
        <p:nvSpPr>
          <p:cNvPr id="6" name="Zástupný obsah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 rtlCol="0"/>
          <a:lstStyle/>
          <a:p>
            <a:pPr lvl="0" rtl="0"/>
            <a:r>
              <a:rPr lang="sk-SK" noProof="0"/>
              <a:t>Kliknite sem a upravte štýly predlohy textu</a:t>
            </a:r>
          </a:p>
          <a:p>
            <a:pPr lvl="1" rtl="0"/>
            <a:r>
              <a:rPr lang="sk-SK" noProof="0"/>
              <a:t>Druhá úroveň</a:t>
            </a:r>
          </a:p>
          <a:p>
            <a:pPr lvl="2" rtl="0"/>
            <a:r>
              <a:rPr lang="sk-SK" noProof="0"/>
              <a:t>Tretia úroveň</a:t>
            </a:r>
          </a:p>
          <a:p>
            <a:pPr lvl="3" rtl="0"/>
            <a:r>
              <a:rPr lang="sk-SK" noProof="0"/>
              <a:t>Štvrtá úroveň</a:t>
            </a:r>
          </a:p>
          <a:p>
            <a:pPr lvl="4" rtl="0"/>
            <a:r>
              <a:rPr lang="sk-SK" noProof="0"/>
              <a:t>Piata úroveň</a:t>
            </a:r>
            <a:endParaRPr lang="sk-SK" noProof="0" dirty="0"/>
          </a:p>
        </p:txBody>
      </p:sp>
      <p:sp>
        <p:nvSpPr>
          <p:cNvPr id="7" name="Zástupný symbol dátumu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6D91FFB-3D8A-483E-BBBE-3B58121C3122}" type="datetime1">
              <a:rPr lang="sk-SK" noProof="0" smtClean="0"/>
              <a:t>21. 11. 2025</a:t>
            </a:fld>
            <a:endParaRPr lang="sk-SK" noProof="0" dirty="0"/>
          </a:p>
        </p:txBody>
      </p:sp>
      <p:sp>
        <p:nvSpPr>
          <p:cNvPr id="8" name="Zástupný symbol päty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k-SK" noProof="0" dirty="0"/>
          </a:p>
        </p:txBody>
      </p:sp>
      <p:sp>
        <p:nvSpPr>
          <p:cNvPr id="9" name="Zástupné číslo snímky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sk-SK" noProof="0" smtClean="0"/>
              <a:t>‹#›</a:t>
            </a:fld>
            <a:endParaRPr lang="sk-SK" noProof="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Iba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sk-SK" noProof="0"/>
              <a:t>Kliknutím upravte štýl predlohy nadpisu</a:t>
            </a:r>
            <a:endParaRPr lang="sk-SK" noProof="0" dirty="0"/>
          </a:p>
        </p:txBody>
      </p:sp>
      <p:sp>
        <p:nvSpPr>
          <p:cNvPr id="3" name="Zástupný symbol dátumu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9E599A0-17C7-482D-8CD9-8F33C578E6D5}" type="datetime1">
              <a:rPr lang="sk-SK" noProof="0" smtClean="0"/>
              <a:t>21. 11. 2025</a:t>
            </a:fld>
            <a:endParaRPr lang="sk-SK" noProof="0" dirty="0"/>
          </a:p>
        </p:txBody>
      </p:sp>
      <p:sp>
        <p:nvSpPr>
          <p:cNvPr id="4" name="Zástupný symbol päty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k-SK" noProof="0" dirty="0"/>
          </a:p>
        </p:txBody>
      </p:sp>
      <p:sp>
        <p:nvSpPr>
          <p:cNvPr id="5" name="Zástupné číslo snímky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sk-SK" noProof="0" smtClean="0"/>
              <a:t>‹#›</a:t>
            </a:fld>
            <a:endParaRPr lang="sk-SK" noProof="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ázd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dátumu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E8A9FE3-9FAC-4F71-A761-79F2BFFAAC51}" type="datetime1">
              <a:rPr lang="sk-SK" noProof="0" smtClean="0"/>
              <a:t>21. 11. 2025</a:t>
            </a:fld>
            <a:endParaRPr lang="sk-SK" noProof="0" dirty="0"/>
          </a:p>
        </p:txBody>
      </p:sp>
      <p:sp>
        <p:nvSpPr>
          <p:cNvPr id="3" name="Zástupný symbol päty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k-SK" noProof="0" dirty="0"/>
          </a:p>
        </p:txBody>
      </p:sp>
      <p:sp>
        <p:nvSpPr>
          <p:cNvPr id="4" name="Zástupné číslo snímky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sk-SK" noProof="0" smtClean="0"/>
              <a:t>‹#›</a:t>
            </a:fld>
            <a:endParaRPr lang="sk-SK" noProof="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 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 rtlCol="0"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pPr rtl="0"/>
            <a:r>
              <a:rPr lang="sk-SK" noProof="0"/>
              <a:t>Kliknutím upravte štýl predlohy nadpisu</a:t>
            </a:r>
            <a:endParaRPr lang="sk-SK" noProof="0" dirty="0"/>
          </a:p>
        </p:txBody>
      </p:sp>
      <p:sp>
        <p:nvSpPr>
          <p:cNvPr id="3" name="Zástupný obsah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sk-SK" noProof="0"/>
              <a:t>Kliknite sem a upravte štýly predlohy textu</a:t>
            </a:r>
          </a:p>
          <a:p>
            <a:pPr lvl="1" rtl="0"/>
            <a:r>
              <a:rPr lang="sk-SK" noProof="0"/>
              <a:t>Druhá úroveň</a:t>
            </a:r>
          </a:p>
          <a:p>
            <a:pPr lvl="2" rtl="0"/>
            <a:r>
              <a:rPr lang="sk-SK" noProof="0"/>
              <a:t>Tretia úroveň</a:t>
            </a:r>
          </a:p>
          <a:p>
            <a:pPr lvl="3" rtl="0"/>
            <a:r>
              <a:rPr lang="sk-SK" noProof="0"/>
              <a:t>Štvrtá úroveň</a:t>
            </a:r>
          </a:p>
          <a:p>
            <a:pPr lvl="4" rtl="0"/>
            <a:r>
              <a:rPr lang="sk-SK" noProof="0"/>
              <a:t>Piata úroveň</a:t>
            </a:r>
            <a:endParaRPr lang="sk-SK" noProof="0" dirty="0"/>
          </a:p>
        </p:txBody>
      </p:sp>
      <p:sp>
        <p:nvSpPr>
          <p:cNvPr id="4" name="Zástupný text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 rtlCol="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sk-SK" noProof="0"/>
              <a:t>Kliknite sem a upravte štýly predlohy textu</a:t>
            </a:r>
          </a:p>
        </p:txBody>
      </p:sp>
      <p:sp>
        <p:nvSpPr>
          <p:cNvPr id="5" name="Zástupný symbol dátum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1916C7D-7F91-4715-BB1D-0879BB1802D5}" type="datetime1">
              <a:rPr lang="sk-SK" noProof="0" smtClean="0"/>
              <a:t>21. 11. 2025</a:t>
            </a:fld>
            <a:endParaRPr lang="sk-SK" noProof="0" dirty="0"/>
          </a:p>
        </p:txBody>
      </p:sp>
      <p:sp>
        <p:nvSpPr>
          <p:cNvPr id="6" name="Zástupný symbol päty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k-SK" noProof="0" dirty="0"/>
          </a:p>
        </p:txBody>
      </p:sp>
      <p:sp>
        <p:nvSpPr>
          <p:cNvPr id="7" name="Zástupné číslo snímky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sk-SK" noProof="0" smtClean="0"/>
              <a:t>‹#›</a:t>
            </a:fld>
            <a:endParaRPr lang="sk-SK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sk-SK" noProof="0"/>
              <a:t>Kliknutím upravte štýl predlohy nadpisu</a:t>
            </a:r>
            <a:endParaRPr lang="sk-SK" noProof="0" dirty="0"/>
          </a:p>
        </p:txBody>
      </p:sp>
      <p:sp>
        <p:nvSpPr>
          <p:cNvPr id="3" name="Zástupný symbol obrázka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sk-SK" noProof="0"/>
              <a:t>Kliknutím na ikonu pridáte obrázok</a:t>
            </a:r>
            <a:endParaRPr lang="sk-SK" noProof="0" dirty="0"/>
          </a:p>
        </p:txBody>
      </p:sp>
      <p:sp>
        <p:nvSpPr>
          <p:cNvPr id="4" name="Zástupný text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sk-SK" noProof="0"/>
              <a:t>Kliknite sem a upravte štýly predlohy textu</a:t>
            </a:r>
          </a:p>
        </p:txBody>
      </p:sp>
      <p:sp>
        <p:nvSpPr>
          <p:cNvPr id="5" name="Zástupný symbol dátum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C0B68A4-00AA-4909-BF63-5721ECF45123}" type="datetime1">
              <a:rPr lang="sk-SK" noProof="0" smtClean="0"/>
              <a:t>21. 11. 2025</a:t>
            </a:fld>
            <a:endParaRPr lang="sk-SK" noProof="0" dirty="0"/>
          </a:p>
        </p:txBody>
      </p:sp>
      <p:sp>
        <p:nvSpPr>
          <p:cNvPr id="6" name="Zástupný symbol päty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k-SK" noProof="0" dirty="0"/>
          </a:p>
        </p:txBody>
      </p:sp>
      <p:sp>
        <p:nvSpPr>
          <p:cNvPr id="7" name="Zástupné číslo snímky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67E5644-1E61-4311-A31E-84CB9C7AA8A9}" type="slidenum">
              <a:rPr lang="sk-SK" noProof="0" smtClean="0"/>
              <a:t>‹#›</a:t>
            </a:fld>
            <a:endParaRPr lang="sk-SK" noProof="0" dirty="0"/>
          </a:p>
        </p:txBody>
      </p:sp>
      <p:cxnSp>
        <p:nvCxnSpPr>
          <p:cNvPr id="8" name="Priama spojnica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 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sk-SK" noProof="0"/>
              <a:t>Kliknutím upravte štýl predlohy nadpisu</a:t>
            </a:r>
            <a:endParaRPr lang="sk-SK" noProof="0" dirty="0"/>
          </a:p>
        </p:txBody>
      </p:sp>
      <p:sp>
        <p:nvSpPr>
          <p:cNvPr id="3" name="Zástupný z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sk-SK" noProof="0"/>
              <a:t>Kliknite sem a upravte štýly predlohy textu</a:t>
            </a:r>
          </a:p>
          <a:p>
            <a:pPr lvl="1" rtl="0"/>
            <a:r>
              <a:rPr lang="sk-SK" noProof="0"/>
              <a:t>Druhá úroveň</a:t>
            </a:r>
          </a:p>
          <a:p>
            <a:pPr lvl="2" rtl="0"/>
            <a:r>
              <a:rPr lang="sk-SK" noProof="0"/>
              <a:t>Tretia úroveň</a:t>
            </a:r>
          </a:p>
          <a:p>
            <a:pPr lvl="3" rtl="0"/>
            <a:r>
              <a:rPr lang="sk-SK" noProof="0"/>
              <a:t>Štvrtá úroveň</a:t>
            </a:r>
          </a:p>
          <a:p>
            <a:pPr lvl="4" rtl="0"/>
            <a:r>
              <a:rPr lang="sk-SK" noProof="0"/>
              <a:t>Piata úroveň</a:t>
            </a:r>
            <a:endParaRPr lang="sk-SK" noProof="0" dirty="0"/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F2596E4-A29D-4E5F-87DC-45904E1B5053}" type="datetime1">
              <a:rPr lang="sk-SK" noProof="0" smtClean="0"/>
              <a:t>21. 11. 2025</a:t>
            </a:fld>
            <a:endParaRPr lang="sk-SK" noProof="0" dirty="0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k-SK" noProof="0" dirty="0"/>
          </a:p>
        </p:txBody>
      </p:sp>
      <p:sp>
        <p:nvSpPr>
          <p:cNvPr id="6" name="Zástupné číslo snímky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sk-SK" noProof="0" smtClean="0"/>
              <a:t>‹#›</a:t>
            </a:fld>
            <a:endParaRPr lang="sk-SK" noProof="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 rtlCol="0"/>
          <a:lstStyle/>
          <a:p>
            <a:pPr rtl="0"/>
            <a:r>
              <a:rPr lang="sk-SK" noProof="0"/>
              <a:t>Kliknutím upravte štýl predlohy nadpisu</a:t>
            </a:r>
            <a:endParaRPr lang="sk-SK" noProof="0" dirty="0"/>
          </a:p>
        </p:txBody>
      </p:sp>
      <p:sp>
        <p:nvSpPr>
          <p:cNvPr id="3" name="Zástupný objekt zvislého textu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 rtlCol="0"/>
          <a:lstStyle/>
          <a:p>
            <a:pPr lvl="0" rtl="0"/>
            <a:r>
              <a:rPr lang="sk-SK" noProof="0"/>
              <a:t>Kliknite sem a upravte štýly predlohy textu</a:t>
            </a:r>
          </a:p>
          <a:p>
            <a:pPr lvl="1" rtl="0"/>
            <a:r>
              <a:rPr lang="sk-SK" noProof="0"/>
              <a:t>Druhá úroveň</a:t>
            </a:r>
          </a:p>
          <a:p>
            <a:pPr lvl="2" rtl="0"/>
            <a:r>
              <a:rPr lang="sk-SK" noProof="0"/>
              <a:t>Tretia úroveň</a:t>
            </a:r>
          </a:p>
          <a:p>
            <a:pPr lvl="3" rtl="0"/>
            <a:r>
              <a:rPr lang="sk-SK" noProof="0"/>
              <a:t>Štvrtá úroveň</a:t>
            </a:r>
          </a:p>
          <a:p>
            <a:pPr lvl="4" rtl="0"/>
            <a:r>
              <a:rPr lang="sk-SK" noProof="0"/>
              <a:t>Piata úroveň</a:t>
            </a:r>
            <a:endParaRPr lang="sk-SK" noProof="0" dirty="0"/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6F852E4-47CB-43E7-B059-DC64C6AB1BFE}" type="datetime1">
              <a:rPr lang="sk-SK" noProof="0" smtClean="0"/>
              <a:t>21. 11. 2025</a:t>
            </a:fld>
            <a:endParaRPr lang="sk-SK" noProof="0" dirty="0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k-SK" noProof="0" dirty="0"/>
          </a:p>
        </p:txBody>
      </p:sp>
      <p:sp>
        <p:nvSpPr>
          <p:cNvPr id="6" name="Zástupné číslo snímky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sk-SK" noProof="0" smtClean="0"/>
              <a:t>‹#›</a:t>
            </a:fld>
            <a:endParaRPr lang="sk-SK" noProof="0" dirty="0"/>
          </a:p>
        </p:txBody>
      </p:sp>
      <p:cxnSp>
        <p:nvCxnSpPr>
          <p:cNvPr id="7" name="Priama spojnica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nadpisu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sk-SK" noProof="0" dirty="0"/>
              <a:t>Kliknite sem a upravte štýl predlohy nadpisov</a:t>
            </a:r>
          </a:p>
        </p:txBody>
      </p:sp>
      <p:sp>
        <p:nvSpPr>
          <p:cNvPr id="3" name="Zástupný text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 rtl="0"/>
            <a:r>
              <a:rPr lang="sk-SK" noProof="0" dirty="0"/>
              <a:t>Kliknutím upravíte štýly predlohy textu</a:t>
            </a:r>
          </a:p>
          <a:p>
            <a:pPr lvl="1" rtl="0"/>
            <a:r>
              <a:rPr lang="sk-SK" noProof="0" dirty="0"/>
              <a:t>Druhá úroveň</a:t>
            </a:r>
          </a:p>
          <a:p>
            <a:pPr lvl="2" rtl="0"/>
            <a:r>
              <a:rPr lang="sk-SK" noProof="0" dirty="0"/>
              <a:t>Tretia úroveň</a:t>
            </a:r>
          </a:p>
          <a:p>
            <a:pPr lvl="3" rtl="0"/>
            <a:r>
              <a:rPr lang="sk-SK" noProof="0" dirty="0"/>
              <a:t>Štvrtá úroveň</a:t>
            </a:r>
          </a:p>
          <a:p>
            <a:pPr lvl="4" rtl="0"/>
            <a:r>
              <a:rPr lang="sk-SK" noProof="0" dirty="0"/>
              <a:t>Piata úroveň</a:t>
            </a:r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C917EA12-D6FC-4713-A6D0-D9AC000E5D5C}" type="datetime1">
              <a:rPr lang="sk-SK" noProof="0" smtClean="0"/>
              <a:t>21. 11. 2025</a:t>
            </a:fld>
            <a:endParaRPr lang="sk-SK" noProof="0" dirty="0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endParaRPr lang="sk-SK" noProof="0" dirty="0"/>
          </a:p>
        </p:txBody>
      </p:sp>
      <p:sp>
        <p:nvSpPr>
          <p:cNvPr id="6" name="Zástupné číslo snímky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sk-SK" noProof="0" smtClean="0"/>
              <a:pPr/>
              <a:t>‹#›</a:t>
            </a:fld>
            <a:endParaRPr lang="sk-SK" noProof="0" dirty="0"/>
          </a:p>
        </p:txBody>
      </p:sp>
      <p:cxnSp>
        <p:nvCxnSpPr>
          <p:cNvPr id="7" name="Priama spojnica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mohamedchetoui/grad-cam-gradient-weighted-class-activation-mapping-ffd72742243a" TargetMode="External"/><Relationship Id="rId2" Type="http://schemas.openxmlformats.org/officeDocument/2006/relationships/hyperlink" Target="https://www.researchgate.net/publication/360370646_Modeling_Users'_Cognitive_Performance_Using_Digital_Pen_Feature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mdpi.com/2313-433X/11/1/15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dĺžnik 18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sk-SK" dirty="0"/>
          </a:p>
        </p:txBody>
      </p:sp>
      <p:pic>
        <p:nvPicPr>
          <p:cNvPr id="5" name="Obrázok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2444" b="-1"/>
          <a:stretch/>
        </p:blipFill>
        <p:spPr>
          <a:xfrm>
            <a:off x="20" y="20025"/>
            <a:ext cx="12191980" cy="6858000"/>
          </a:xfrm>
          <a:prstGeom prst="rect">
            <a:avLst/>
          </a:prstGeom>
        </p:spPr>
      </p:pic>
      <p:sp>
        <p:nvSpPr>
          <p:cNvPr id="21" name="Obdĺžnik 20">
            <a:extLst>
              <a:ext uri="{FF2B5EF4-FFF2-40B4-BE49-F238E27FC236}">
                <a16:creationId xmlns:a16="http://schemas.microsoft.com/office/drawing/2014/main" id="{EAA48FC5-3C83-4F1B-BC33-DF0B588F8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sk-SK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E3D84FB-5D02-47D2-98FD-4F01A02E2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9349" y="3429000"/>
            <a:ext cx="7501651" cy="1090938"/>
          </a:xfrm>
        </p:spPr>
        <p:txBody>
          <a:bodyPr rtlCol="0" anchor="b">
            <a:normAutofit fontScale="90000"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AUTOMATED EVALUATION OF THE REY-OSTERRIETH COMPLEX IMAGE TEST</a:t>
            </a:r>
            <a:endParaRPr lang="sk-SK" dirty="0">
              <a:solidFill>
                <a:schemeClr val="bg1"/>
              </a:solidFill>
            </a:endParaRP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E9F6641D-ADF3-40BD-9BA3-E740E77C8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9349" y="4779312"/>
            <a:ext cx="7501650" cy="774186"/>
          </a:xfrm>
        </p:spPr>
        <p:txBody>
          <a:bodyPr rtlCol="0" anchor="t">
            <a:normAutofit fontScale="92500" lnSpcReduction="10000"/>
          </a:bodyPr>
          <a:lstStyle/>
          <a:p>
            <a:pPr rtl="0"/>
            <a:r>
              <a:rPr lang="en-US" sz="2400" dirty="0">
                <a:solidFill>
                  <a:srgbClr val="FFFFFF"/>
                </a:solidFill>
              </a:rPr>
              <a:t>Author: Lucia Korbe</a:t>
            </a:r>
            <a:r>
              <a:rPr lang="sk-SK" sz="2400" dirty="0" err="1">
                <a:solidFill>
                  <a:srgbClr val="FFFFFF"/>
                </a:solidFill>
              </a:rPr>
              <a:t>ľová</a:t>
            </a:r>
            <a:endParaRPr lang="en-US" sz="2400" dirty="0">
              <a:solidFill>
                <a:srgbClr val="FFFFFF"/>
              </a:solidFill>
            </a:endParaRPr>
          </a:p>
          <a:p>
            <a:pPr rtl="0"/>
            <a:r>
              <a:rPr lang="en-US" sz="2400" dirty="0">
                <a:solidFill>
                  <a:schemeClr val="bg1"/>
                </a:solidFill>
              </a:rPr>
              <a:t>Supervisor: </a:t>
            </a:r>
            <a:r>
              <a:rPr lang="sk-SK" sz="2400" b="0" i="0" dirty="0">
                <a:solidFill>
                  <a:schemeClr val="bg1"/>
                </a:solidFill>
                <a:effectLst/>
              </a:rPr>
              <a:t>doc. RNDr. Zuzana </a:t>
            </a:r>
            <a:r>
              <a:rPr lang="sk-SK" sz="2400" b="0" i="0" dirty="0" err="1">
                <a:solidFill>
                  <a:schemeClr val="bg1"/>
                </a:solidFill>
                <a:effectLst/>
              </a:rPr>
              <a:t>Černeková</a:t>
            </a:r>
            <a:r>
              <a:rPr lang="sk-SK" sz="2400" b="0" i="0" dirty="0">
                <a:solidFill>
                  <a:schemeClr val="bg1"/>
                </a:solidFill>
                <a:effectLst/>
              </a:rPr>
              <a:t>, PhD.</a:t>
            </a:r>
            <a:endParaRPr lang="sk-SK" sz="2400" dirty="0">
              <a:solidFill>
                <a:schemeClr val="bg1"/>
              </a:solidFill>
            </a:endParaRPr>
          </a:p>
        </p:txBody>
      </p:sp>
      <p:cxnSp>
        <p:nvCxnSpPr>
          <p:cNvPr id="23" name="Priama spojnica 22">
            <a:extLst>
              <a:ext uri="{FF2B5EF4-FFF2-40B4-BE49-F238E27FC236}">
                <a16:creationId xmlns:a16="http://schemas.microsoft.com/office/drawing/2014/main" id="{62F01714-1A39-4194-BD47-8A9960C59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09349" y="4666480"/>
            <a:ext cx="6832499" cy="0"/>
          </a:xfrm>
          <a:prstGeom prst="line">
            <a:avLst/>
          </a:prstGeom>
          <a:ln w="22225">
            <a:solidFill>
              <a:srgbClr val="4AC4E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257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E8BD74-7CD6-916B-705C-C9DF2B36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471509"/>
            <a:ext cx="10151872" cy="1737360"/>
          </a:xfrm>
        </p:spPr>
        <p:txBody>
          <a:bodyPr anchor="ctr">
            <a:normAutofit/>
          </a:bodyPr>
          <a:lstStyle/>
          <a:p>
            <a:r>
              <a:rPr lang="en-US" sz="5000" dirty="0">
                <a:solidFill>
                  <a:schemeClr val="tx1"/>
                </a:solidFill>
              </a:rPr>
              <a:t>REY-OSTERRIETH COMPLEX Figure (ROCF) TEST</a:t>
            </a:r>
            <a:endParaRPr lang="sk-SK" sz="5000" dirty="0">
              <a:solidFill>
                <a:schemeClr val="tx1"/>
              </a:solidFill>
            </a:endParaRPr>
          </a:p>
        </p:txBody>
      </p:sp>
      <p:pic>
        <p:nvPicPr>
          <p:cNvPr id="5" name="Obrázok 4" descr="Obrázok, na ktorom je diagram, rad, náčrt, technický výkres&#10;&#10;Automaticky generovaný popis">
            <a:extLst>
              <a:ext uri="{FF2B5EF4-FFF2-40B4-BE49-F238E27FC236}">
                <a16:creationId xmlns:a16="http://schemas.microsoft.com/office/drawing/2014/main" id="{56D77C5C-2929-08DC-221D-14FCE432D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3016" y="2208869"/>
            <a:ext cx="5758984" cy="3515914"/>
          </a:xfrm>
          <a:prstGeom prst="rect">
            <a:avLst/>
          </a:prstGeom>
          <a:noFill/>
        </p:spPr>
      </p:pic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FA08E5A-A36B-94CF-5B4C-AA72A4FEE1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8576" y="2033986"/>
            <a:ext cx="5983224" cy="444301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Visuospatial abilities and memory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The patient draws a copy of the ROCF figure either from a template or from memory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Consists of 18 geometrical elements, each scored from 0 to 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Total score - from 0 to 36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Scoring is based on accuracy of the drawn elements and correctness of their placement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CDBF48C8-E512-3ABB-79BD-73553E53B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0933" y="6477000"/>
            <a:ext cx="491067" cy="279400"/>
          </a:xfrm>
        </p:spPr>
        <p:txBody>
          <a:bodyPr/>
          <a:lstStyle/>
          <a:p>
            <a:pPr rtl="0"/>
            <a:fld id="{4FAB73BC-B049-4115-A692-8D63A059BFB8}" type="slidenum">
              <a:rPr lang="sk-SK" sz="1600" noProof="0" smtClean="0">
                <a:solidFill>
                  <a:srgbClr val="00B0F0"/>
                </a:solidFill>
              </a:rPr>
              <a:t>2</a:t>
            </a:fld>
            <a:endParaRPr lang="sk-SK" sz="16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5867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9E25AC6-1056-BDCF-2949-F36AEECDC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 of the thesis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82AFF8F-3FEE-24E3-B0B9-B385815C1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849119"/>
            <a:ext cx="6833997" cy="4594543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Automated system to approximate ROCF drawing scores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Computer vision and artificial intelligence techniques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Getting closer to annotations done by experts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Same dataset used in two master’s theses from FEI STU: Iv</a:t>
            </a:r>
            <a:r>
              <a:rPr lang="sk-SK" sz="2400" dirty="0"/>
              <a:t>á</a:t>
            </a:r>
            <a:r>
              <a:rPr lang="en-US" sz="2400" dirty="0" err="1"/>
              <a:t>nyi</a:t>
            </a:r>
            <a:r>
              <a:rPr lang="en-US" sz="2400" dirty="0"/>
              <a:t> (2023) and </a:t>
            </a:r>
            <a:r>
              <a:rPr lang="sk-SK" sz="2400" dirty="0" err="1"/>
              <a:t>Čobrda</a:t>
            </a:r>
            <a:r>
              <a:rPr lang="en-US" sz="2400" dirty="0"/>
              <a:t> (2024)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Simplified scoring system: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Scores were divided into four classes (Iv</a:t>
            </a:r>
            <a:r>
              <a:rPr lang="sk-SK" sz="2400" dirty="0"/>
              <a:t>á</a:t>
            </a:r>
            <a:r>
              <a:rPr lang="en-US" sz="2400" dirty="0" err="1"/>
              <a:t>nyi</a:t>
            </a:r>
            <a:r>
              <a:rPr lang="en-US" sz="2400" dirty="0"/>
              <a:t>, 2023)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Each class: interval of score values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First goal: replicating their results with more modern architectures</a:t>
            </a:r>
          </a:p>
        </p:txBody>
      </p:sp>
      <p:graphicFrame>
        <p:nvGraphicFramePr>
          <p:cNvPr id="4" name="Tabuľka 3">
            <a:extLst>
              <a:ext uri="{FF2B5EF4-FFF2-40B4-BE49-F238E27FC236}">
                <a16:creationId xmlns:a16="http://schemas.microsoft.com/office/drawing/2014/main" id="{79568324-A905-9C0E-3E86-2726DCA71D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173265"/>
              </p:ext>
            </p:extLst>
          </p:nvPr>
        </p:nvGraphicFramePr>
        <p:xfrm>
          <a:off x="8090409" y="2906522"/>
          <a:ext cx="3847590" cy="2398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902">
                  <a:extLst>
                    <a:ext uri="{9D8B030D-6E8A-4147-A177-3AD203B41FA5}">
                      <a16:colId xmlns:a16="http://schemas.microsoft.com/office/drawing/2014/main" val="1581232138"/>
                    </a:ext>
                  </a:extLst>
                </a:gridCol>
                <a:gridCol w="1543513">
                  <a:extLst>
                    <a:ext uri="{9D8B030D-6E8A-4147-A177-3AD203B41FA5}">
                      <a16:colId xmlns:a16="http://schemas.microsoft.com/office/drawing/2014/main" val="2388314347"/>
                    </a:ext>
                  </a:extLst>
                </a:gridCol>
                <a:gridCol w="1500175">
                  <a:extLst>
                    <a:ext uri="{9D8B030D-6E8A-4147-A177-3AD203B41FA5}">
                      <a16:colId xmlns:a16="http://schemas.microsoft.com/office/drawing/2014/main" val="3758681171"/>
                    </a:ext>
                  </a:extLst>
                </a:gridCol>
              </a:tblGrid>
              <a:tr h="81381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Class </a:t>
                      </a:r>
                      <a:endParaRPr lang="sk-S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Minimal total score</a:t>
                      </a:r>
                      <a:endParaRPr lang="sk-S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Maximal total score</a:t>
                      </a:r>
                      <a:endParaRPr lang="sk-SK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1047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  <a:endParaRPr lang="sk-S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  <a:endParaRPr lang="sk-S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14.5</a:t>
                      </a:r>
                      <a:endParaRPr lang="sk-SK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1224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  <a:endParaRPr lang="sk-S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15</a:t>
                      </a:r>
                      <a:endParaRPr lang="sk-S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22</a:t>
                      </a:r>
                      <a:endParaRPr lang="sk-SK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4630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  <a:endParaRPr lang="sk-S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22.5</a:t>
                      </a:r>
                      <a:endParaRPr lang="sk-S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30</a:t>
                      </a:r>
                      <a:endParaRPr lang="sk-SK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0549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</a:t>
                      </a:r>
                      <a:endParaRPr lang="sk-S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30.5</a:t>
                      </a:r>
                      <a:endParaRPr lang="sk-S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36</a:t>
                      </a:r>
                      <a:endParaRPr lang="sk-SK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4872057"/>
                  </a:ext>
                </a:extLst>
              </a:tr>
            </a:tbl>
          </a:graphicData>
        </a:graphic>
      </p:graphicFrame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98258CF2-45B7-1887-C0D4-A3842F113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0773" y="6443662"/>
            <a:ext cx="501227" cy="285696"/>
          </a:xfrm>
        </p:spPr>
        <p:txBody>
          <a:bodyPr/>
          <a:lstStyle/>
          <a:p>
            <a:pPr rtl="0"/>
            <a:fld id="{4FAB73BC-B049-4115-A692-8D63A059BFB8}" type="slidenum">
              <a:rPr lang="sk-SK" sz="1600" noProof="0" smtClean="0">
                <a:solidFill>
                  <a:schemeClr val="accent1"/>
                </a:solidFill>
              </a:rPr>
              <a:t>3</a:t>
            </a:fld>
            <a:endParaRPr lang="sk-SK" sz="1600" noProof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4681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5C0432A-C0CA-CC46-DB4D-239246285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4433697" cy="1499616"/>
          </a:xfrm>
        </p:spPr>
        <p:txBody>
          <a:bodyPr/>
          <a:lstStyle/>
          <a:p>
            <a:r>
              <a:rPr lang="en-US" dirty="0"/>
              <a:t>Dataset and libraries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E2FE3B5-2081-4C36-38A9-8CE398B44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399" y="2084831"/>
            <a:ext cx="4707259" cy="444296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sz="2400" dirty="0"/>
              <a:t>1041 images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/>
              <a:t>Training dataset: 842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/>
              <a:t>Validation dataset: 94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/>
              <a:t>Testing dataset: 105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Libraries: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000" dirty="0" err="1"/>
              <a:t>PyTorch</a:t>
            </a:r>
            <a:r>
              <a:rPr lang="en-US" sz="2000" dirty="0"/>
              <a:t> and scikit-learn (AI and ML)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000" dirty="0"/>
              <a:t>Matplotlib (graphs)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000" dirty="0"/>
              <a:t>NumPy (vectorized computation)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000" dirty="0"/>
              <a:t>OpenCV (image processing)</a:t>
            </a:r>
          </a:p>
        </p:txBody>
      </p:sp>
      <p:grpSp>
        <p:nvGrpSpPr>
          <p:cNvPr id="8" name="Skupina 7">
            <a:extLst>
              <a:ext uri="{FF2B5EF4-FFF2-40B4-BE49-F238E27FC236}">
                <a16:creationId xmlns:a16="http://schemas.microsoft.com/office/drawing/2014/main" id="{F9BBE690-B8B1-19E4-F47E-D4C922AFE9D3}"/>
              </a:ext>
            </a:extLst>
          </p:cNvPr>
          <p:cNvGrpSpPr/>
          <p:nvPr/>
        </p:nvGrpSpPr>
        <p:grpSpPr>
          <a:xfrm>
            <a:off x="5694553" y="427466"/>
            <a:ext cx="6203679" cy="6430534"/>
            <a:chOff x="4551940" y="341626"/>
            <a:chExt cx="6203679" cy="6430534"/>
          </a:xfrm>
        </p:grpSpPr>
        <p:grpSp>
          <p:nvGrpSpPr>
            <p:cNvPr id="7" name="Skupina 6">
              <a:extLst>
                <a:ext uri="{FF2B5EF4-FFF2-40B4-BE49-F238E27FC236}">
                  <a16:creationId xmlns:a16="http://schemas.microsoft.com/office/drawing/2014/main" id="{72609860-3BD0-F4F8-7F10-2D4D56EEE4A1}"/>
                </a:ext>
              </a:extLst>
            </p:cNvPr>
            <p:cNvGrpSpPr/>
            <p:nvPr/>
          </p:nvGrpSpPr>
          <p:grpSpPr>
            <a:xfrm>
              <a:off x="4551940" y="341626"/>
              <a:ext cx="3003803" cy="3150364"/>
              <a:chOff x="4246881" y="341626"/>
              <a:chExt cx="3003803" cy="3150364"/>
            </a:xfrm>
          </p:grpSpPr>
          <p:pic>
            <p:nvPicPr>
              <p:cNvPr id="19" name="Obrázok 18" descr="Obrázok, na ktorom je náčrt, kresba, diagram, rad&#10;&#10;Automaticky generovaný popis">
                <a:extLst>
                  <a:ext uri="{FF2B5EF4-FFF2-40B4-BE49-F238E27FC236}">
                    <a16:creationId xmlns:a16="http://schemas.microsoft.com/office/drawing/2014/main" id="{B19EC9FB-001F-15B9-9756-8CCA8DCB79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246881" y="341626"/>
                <a:ext cx="2769613" cy="2769613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sp>
            <p:nvSpPr>
              <p:cNvPr id="23" name="BlokTextu 22">
                <a:extLst>
                  <a:ext uri="{FF2B5EF4-FFF2-40B4-BE49-F238E27FC236}">
                    <a16:creationId xmlns:a16="http://schemas.microsoft.com/office/drawing/2014/main" id="{2EB8F78C-40A9-63BE-DE54-C48E83550C17}"/>
                  </a:ext>
                </a:extLst>
              </p:cNvPr>
              <p:cNvSpPr txBox="1"/>
              <p:nvPr/>
            </p:nvSpPr>
            <p:spPr>
              <a:xfrm>
                <a:off x="4761484" y="3122658"/>
                <a:ext cx="2489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score 3 = class 1</a:t>
                </a:r>
                <a:endParaRPr lang="sk-SK" dirty="0"/>
              </a:p>
            </p:txBody>
          </p:sp>
        </p:grpSp>
        <p:grpSp>
          <p:nvGrpSpPr>
            <p:cNvPr id="6" name="Skupina 5">
              <a:extLst>
                <a:ext uri="{FF2B5EF4-FFF2-40B4-BE49-F238E27FC236}">
                  <a16:creationId xmlns:a16="http://schemas.microsoft.com/office/drawing/2014/main" id="{13F4A35C-6630-1762-EA40-592A04A212E6}"/>
                </a:ext>
              </a:extLst>
            </p:cNvPr>
            <p:cNvGrpSpPr/>
            <p:nvPr/>
          </p:nvGrpSpPr>
          <p:grpSpPr>
            <a:xfrm>
              <a:off x="7974587" y="341626"/>
              <a:ext cx="2781032" cy="3138945"/>
              <a:chOff x="7974587" y="341626"/>
              <a:chExt cx="2781032" cy="3138945"/>
            </a:xfrm>
          </p:grpSpPr>
          <p:pic>
            <p:nvPicPr>
              <p:cNvPr id="20" name="Obrázok 19" descr="Obrázok, na ktorom je náčrt, kresba, diagram, rad&#10;&#10;Automaticky generovaný popis">
                <a:extLst>
                  <a:ext uri="{FF2B5EF4-FFF2-40B4-BE49-F238E27FC236}">
                    <a16:creationId xmlns:a16="http://schemas.microsoft.com/office/drawing/2014/main" id="{0894E50E-4132-6A38-F5D1-C9CE9F5109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74587" y="341626"/>
                <a:ext cx="2781032" cy="2781032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sp>
            <p:nvSpPr>
              <p:cNvPr id="24" name="BlokTextu 23">
                <a:extLst>
                  <a:ext uri="{FF2B5EF4-FFF2-40B4-BE49-F238E27FC236}">
                    <a16:creationId xmlns:a16="http://schemas.microsoft.com/office/drawing/2014/main" id="{4869A282-E7D7-5019-284D-7D40BC6B9C71}"/>
                  </a:ext>
                </a:extLst>
              </p:cNvPr>
              <p:cNvSpPr txBox="1"/>
              <p:nvPr/>
            </p:nvSpPr>
            <p:spPr>
              <a:xfrm>
                <a:off x="8270240" y="3111239"/>
                <a:ext cx="2371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score 15.5 = class 2</a:t>
                </a:r>
                <a:endParaRPr lang="sk-SK" dirty="0"/>
              </a:p>
            </p:txBody>
          </p:sp>
        </p:grpSp>
        <p:grpSp>
          <p:nvGrpSpPr>
            <p:cNvPr id="4" name="Skupina 3">
              <a:extLst>
                <a:ext uri="{FF2B5EF4-FFF2-40B4-BE49-F238E27FC236}">
                  <a16:creationId xmlns:a16="http://schemas.microsoft.com/office/drawing/2014/main" id="{E3F6242C-7505-BE60-7C07-4D26855C81C9}"/>
                </a:ext>
              </a:extLst>
            </p:cNvPr>
            <p:cNvGrpSpPr/>
            <p:nvPr/>
          </p:nvGrpSpPr>
          <p:grpSpPr>
            <a:xfrm>
              <a:off x="4551940" y="3592574"/>
              <a:ext cx="2769613" cy="3179586"/>
              <a:chOff x="4246881" y="3592574"/>
              <a:chExt cx="2769613" cy="3179586"/>
            </a:xfrm>
          </p:grpSpPr>
          <p:pic>
            <p:nvPicPr>
              <p:cNvPr id="22" name="Obrázok 21" descr="Obrázok, na ktorom je náčrt, kresba, diagram, obrysy&#10;&#10;Automaticky generovaný popis">
                <a:extLst>
                  <a:ext uri="{FF2B5EF4-FFF2-40B4-BE49-F238E27FC236}">
                    <a16:creationId xmlns:a16="http://schemas.microsoft.com/office/drawing/2014/main" id="{5ABDB6F6-CACB-5EF6-FB3B-A0D4710529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46881" y="3592574"/>
                <a:ext cx="2769613" cy="2769613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sp>
            <p:nvSpPr>
              <p:cNvPr id="25" name="BlokTextu 24">
                <a:extLst>
                  <a:ext uri="{FF2B5EF4-FFF2-40B4-BE49-F238E27FC236}">
                    <a16:creationId xmlns:a16="http://schemas.microsoft.com/office/drawing/2014/main" id="{AFAD3FEE-EEC3-F9FC-BF80-172B113C6C80}"/>
                  </a:ext>
                </a:extLst>
              </p:cNvPr>
              <p:cNvSpPr txBox="1"/>
              <p:nvPr/>
            </p:nvSpPr>
            <p:spPr>
              <a:xfrm>
                <a:off x="4761484" y="6402828"/>
                <a:ext cx="22453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score 25 = class 3</a:t>
                </a:r>
                <a:endParaRPr lang="sk-SK" dirty="0"/>
              </a:p>
            </p:txBody>
          </p:sp>
        </p:grpSp>
        <p:grpSp>
          <p:nvGrpSpPr>
            <p:cNvPr id="5" name="Skupina 4">
              <a:extLst>
                <a:ext uri="{FF2B5EF4-FFF2-40B4-BE49-F238E27FC236}">
                  <a16:creationId xmlns:a16="http://schemas.microsoft.com/office/drawing/2014/main" id="{A4ED7040-45FB-2F29-A354-478CD71B3D7C}"/>
                </a:ext>
              </a:extLst>
            </p:cNvPr>
            <p:cNvGrpSpPr/>
            <p:nvPr/>
          </p:nvGrpSpPr>
          <p:grpSpPr>
            <a:xfrm>
              <a:off x="7974587" y="3592574"/>
              <a:ext cx="2769613" cy="3179586"/>
              <a:chOff x="7974587" y="3592574"/>
              <a:chExt cx="2769613" cy="3179586"/>
            </a:xfrm>
          </p:grpSpPr>
          <p:pic>
            <p:nvPicPr>
              <p:cNvPr id="18" name="Obrázok 17" descr="32 points">
                <a:extLst>
                  <a:ext uri="{FF2B5EF4-FFF2-40B4-BE49-F238E27FC236}">
                    <a16:creationId xmlns:a16="http://schemas.microsoft.com/office/drawing/2014/main" id="{5BB1F8B1-A01C-1539-B90C-D34921FAA9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74587" y="3592574"/>
                <a:ext cx="2769613" cy="2769613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sp>
            <p:nvSpPr>
              <p:cNvPr id="26" name="BlokTextu 25">
                <a:extLst>
                  <a:ext uri="{FF2B5EF4-FFF2-40B4-BE49-F238E27FC236}">
                    <a16:creationId xmlns:a16="http://schemas.microsoft.com/office/drawing/2014/main" id="{DBCD6234-F7A1-7599-1FE4-EA8D9AB03F87}"/>
                  </a:ext>
                </a:extLst>
              </p:cNvPr>
              <p:cNvSpPr txBox="1"/>
              <p:nvPr/>
            </p:nvSpPr>
            <p:spPr>
              <a:xfrm>
                <a:off x="8401555" y="6402828"/>
                <a:ext cx="22402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score 32 = </a:t>
                </a:r>
                <a:r>
                  <a:rPr lang="en-US" dirty="0" err="1"/>
                  <a:t>cla</a:t>
                </a:r>
                <a:fld id="{71BAF898-A997-4F97-AD2D-BC50D43E5CB3}" type="slidenum">
                  <a:rPr lang="en-US" smtClean="0"/>
                  <a:t>4</a:t>
                </a:fld>
                <a:fld id="{9223FDF4-000C-4E89-8B60-4A01058DBE4A}" type="slidenum">
                  <a:rPr lang="en-US" smtClean="0"/>
                  <a:t>4</a:t>
                </a:fld>
                <a:r>
                  <a:rPr lang="en-US" dirty="0"/>
                  <a:t>ss 4</a:t>
                </a:r>
                <a:endParaRPr lang="sk-SK" dirty="0"/>
              </a:p>
            </p:txBody>
          </p:sp>
        </p:grpSp>
      </p:grpSp>
      <p:sp>
        <p:nvSpPr>
          <p:cNvPr id="9" name="Zástupný objekt pre číslo snímky 8">
            <a:extLst>
              <a:ext uri="{FF2B5EF4-FFF2-40B4-BE49-F238E27FC236}">
                <a16:creationId xmlns:a16="http://schemas.microsoft.com/office/drawing/2014/main" id="{4430E325-7C95-DEC2-BC34-3A6BD4220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4448" y="6527800"/>
            <a:ext cx="973667" cy="274320"/>
          </a:xfrm>
        </p:spPr>
        <p:txBody>
          <a:bodyPr/>
          <a:lstStyle/>
          <a:p>
            <a:pPr rtl="0"/>
            <a:fld id="{4FAB73BC-B049-4115-A692-8D63A059BFB8}" type="slidenum">
              <a:rPr lang="sk-SK" sz="1600" noProof="0" smtClean="0">
                <a:solidFill>
                  <a:srgbClr val="00B0F0"/>
                </a:solidFill>
              </a:rPr>
              <a:t>4</a:t>
            </a:fld>
            <a:endParaRPr lang="sk-SK" sz="16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2617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ázok 5" descr="Obrázok, na ktorom je snímka obrazovky, zásuvka&#10;&#10;Obsah vygenerovaný pomocou AI môže byť nesprávny.">
            <a:extLst>
              <a:ext uri="{FF2B5EF4-FFF2-40B4-BE49-F238E27FC236}">
                <a16:creationId xmlns:a16="http://schemas.microsoft.com/office/drawing/2014/main" id="{F3A61172-A453-119D-5DEE-FFEBEA753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6793" y="878608"/>
            <a:ext cx="7090153" cy="2853782"/>
          </a:xfrm>
          <a:prstGeom prst="rect">
            <a:avLst/>
          </a:prstGeom>
          <a:noFill/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2DE6B080-1EE8-760C-505C-4E95149CA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 anchor="ctr">
            <a:normAutofit/>
          </a:bodyPr>
          <a:lstStyle/>
          <a:p>
            <a:r>
              <a:rPr lang="en-US" dirty="0"/>
              <a:t>Evaluation method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E647BBF-04B8-E1FF-EFED-E905E89736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24128" y="2084832"/>
            <a:ext cx="3742745" cy="176764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Metrics: recall, precision, F1 score, mean absolute error (MAE), confusion matrix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Test-time augmentation to improve performance on testing set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B9AEA384-EB73-0696-7746-68BD76F59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1893" y="6450384"/>
            <a:ext cx="430107" cy="295856"/>
          </a:xfrm>
        </p:spPr>
        <p:txBody>
          <a:bodyPr anchor="ctr">
            <a:noAutofit/>
          </a:bodyPr>
          <a:lstStyle/>
          <a:p>
            <a:pPr rtl="0">
              <a:spcAft>
                <a:spcPts val="600"/>
              </a:spcAft>
            </a:pPr>
            <a:fld id="{4FAB73BC-B049-4115-A692-8D63A059BFB8}" type="slidenum">
              <a:rPr lang="sk-SK" sz="1600" noProof="0" smtClean="0">
                <a:solidFill>
                  <a:schemeClr val="accent1"/>
                </a:solidFill>
              </a:rPr>
              <a:pPr rtl="0">
                <a:spcAft>
                  <a:spcPts val="600"/>
                </a:spcAft>
              </a:pPr>
              <a:t>5</a:t>
            </a:fld>
            <a:endParaRPr lang="sk-SK" sz="1600" noProof="0" dirty="0">
              <a:solidFill>
                <a:schemeClr val="accent1"/>
              </a:solidFill>
            </a:endParaRPr>
          </a:p>
        </p:txBody>
      </p:sp>
      <p:sp>
        <p:nvSpPr>
          <p:cNvPr id="5" name="Zástupný objekt pre obsah 2">
            <a:extLst>
              <a:ext uri="{FF2B5EF4-FFF2-40B4-BE49-F238E27FC236}">
                <a16:creationId xmlns:a16="http://schemas.microsoft.com/office/drawing/2014/main" id="{308CF3DB-3B7C-2D50-AA00-90223B2D77E5}"/>
              </a:ext>
            </a:extLst>
          </p:cNvPr>
          <p:cNvSpPr txBox="1">
            <a:spLocks/>
          </p:cNvSpPr>
          <p:nvPr/>
        </p:nvSpPr>
        <p:spPr>
          <a:xfrm>
            <a:off x="1024128" y="3859090"/>
            <a:ext cx="9720072" cy="2618342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Five versions of each image (original, rotated, translated, brightness/contrast adjusted, and a combined augmentation). Final prediction made by majority vote.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The model evaluated on the test set is the one from the epoch with the highest validation F1 score.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Comparison: testing recall is compared to a simple CNN baseline by Iványi (2023), which achieved 72.5% recall on the 4-class task. </a:t>
            </a:r>
          </a:p>
          <a:p>
            <a:pPr marL="0" indent="0">
              <a:buNone/>
            </a:pPr>
            <a:endParaRPr lang="sk-SK" sz="2000" dirty="0"/>
          </a:p>
        </p:txBody>
      </p:sp>
    </p:spTree>
    <p:extLst>
      <p:ext uri="{BB962C8B-B14F-4D97-AF65-F5344CB8AC3E}">
        <p14:creationId xmlns:p14="http://schemas.microsoft.com/office/powerpoint/2010/main" val="3823747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7DE577-3F96-EDBA-8F81-AC818801A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7" y="585216"/>
            <a:ext cx="10263465" cy="1499616"/>
          </a:xfrm>
        </p:spPr>
        <p:txBody>
          <a:bodyPr/>
          <a:lstStyle/>
          <a:p>
            <a:r>
              <a:rPr lang="en-US" dirty="0"/>
              <a:t>Initial model and augmentation experiments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8F4A4EB-4717-A7C7-1AEF-97CEB33D9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Goal: choose NN architecture and augmentation strategy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sk-SK" dirty="0" err="1"/>
              <a:t>Simplified</a:t>
            </a:r>
            <a:r>
              <a:rPr lang="sk-SK" dirty="0"/>
              <a:t> 4-class classification </a:t>
            </a:r>
            <a:r>
              <a:rPr lang="sk-SK" dirty="0" err="1"/>
              <a:t>setup</a:t>
            </a:r>
            <a:r>
              <a:rPr lang="en-US" dirty="0"/>
              <a:t> proposed by Iványi (2023)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Architectures tested: ResNet-18 and Swin Transformer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sk-SK" dirty="0" err="1"/>
              <a:t>Augmentations</a:t>
            </a:r>
            <a:r>
              <a:rPr lang="sk-SK" dirty="0"/>
              <a:t> </a:t>
            </a:r>
            <a:r>
              <a:rPr lang="sk-SK" dirty="0" err="1"/>
              <a:t>tested</a:t>
            </a:r>
            <a:r>
              <a:rPr lang="sk-SK" dirty="0"/>
              <a:t>: </a:t>
            </a:r>
            <a:r>
              <a:rPr lang="sk-SK" dirty="0" err="1"/>
              <a:t>translation</a:t>
            </a:r>
            <a:r>
              <a:rPr lang="sk-SK" dirty="0"/>
              <a:t>, </a:t>
            </a:r>
            <a:r>
              <a:rPr lang="sk-SK" dirty="0" err="1"/>
              <a:t>rotation</a:t>
            </a:r>
            <a:r>
              <a:rPr lang="sk-SK" dirty="0"/>
              <a:t>, crop, </a:t>
            </a:r>
            <a:r>
              <a:rPr lang="sk-SK" dirty="0" err="1"/>
              <a:t>brightness</a:t>
            </a:r>
            <a:r>
              <a:rPr lang="sk-SK" dirty="0"/>
              <a:t>/</a:t>
            </a:r>
            <a:r>
              <a:rPr lang="sk-SK" dirty="0" err="1"/>
              <a:t>contrast</a:t>
            </a:r>
            <a:r>
              <a:rPr lang="sk-SK" dirty="0"/>
              <a:t> change, and a </a:t>
            </a:r>
            <a:r>
              <a:rPr lang="sk-SK" dirty="0" err="1"/>
              <a:t>combined</a:t>
            </a:r>
            <a:r>
              <a:rPr lang="sk-SK" dirty="0"/>
              <a:t> </a:t>
            </a:r>
            <a:r>
              <a:rPr lang="sk-SK" dirty="0" err="1"/>
              <a:t>augmentation</a:t>
            </a:r>
            <a:r>
              <a:rPr lang="en-US" dirty="0"/>
              <a:t> (</a:t>
            </a:r>
            <a:r>
              <a:rPr lang="fr-FR" dirty="0"/>
              <a:t>translation, rotation and </a:t>
            </a:r>
            <a:r>
              <a:rPr lang="fr-FR" dirty="0" err="1"/>
              <a:t>brightness</a:t>
            </a:r>
            <a:r>
              <a:rPr lang="fr-FR" dirty="0"/>
              <a:t>/</a:t>
            </a:r>
            <a:r>
              <a:rPr lang="fr-FR" dirty="0" err="1"/>
              <a:t>contrast</a:t>
            </a:r>
            <a:r>
              <a:rPr lang="fr-FR" dirty="0"/>
              <a:t> change)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 </a:t>
            </a:r>
            <a:r>
              <a:rPr lang="en-US" dirty="0"/>
              <a:t>Additional hyperparameters: whether to use global average pooling (ResNet-18), learning rates 0.001 vs. 0.0001, and different learning rate decay schedules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 </a:t>
            </a:r>
            <a:r>
              <a:rPr lang="en-US" dirty="0"/>
              <a:t>Common settings: LR 0.0001, ImageNet pretrained weights, Adam optimizer, L2 regularization, batch size 16, learning rate scheduler (patience 3 epochs)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CD157EBF-16C7-3B41-CBAD-FD41509C8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1741" y="6460544"/>
            <a:ext cx="450259" cy="306016"/>
          </a:xfrm>
        </p:spPr>
        <p:txBody>
          <a:bodyPr/>
          <a:lstStyle/>
          <a:p>
            <a:pPr rtl="0"/>
            <a:fld id="{4FAB73BC-B049-4115-A692-8D63A059BFB8}" type="slidenum">
              <a:rPr lang="sk-SK" sz="1600" noProof="0" smtClean="0">
                <a:solidFill>
                  <a:schemeClr val="accent1"/>
                </a:solidFill>
              </a:rPr>
              <a:t>6</a:t>
            </a:fld>
            <a:endParaRPr lang="sk-SK" sz="1600" noProof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6290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rázok 15" descr="Obrázok, na ktorom je text, diagram, vývoj, rad&#10;&#10;Obsah vygenerovaný pomocou AI môže byť nesprávny.">
            <a:extLst>
              <a:ext uri="{FF2B5EF4-FFF2-40B4-BE49-F238E27FC236}">
                <a16:creationId xmlns:a16="http://schemas.microsoft.com/office/drawing/2014/main" id="{33CBA485-389F-F412-F1B1-B29F44432C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60" t="3638" r="6626" b="3125"/>
          <a:stretch>
            <a:fillRect/>
          </a:stretch>
        </p:blipFill>
        <p:spPr>
          <a:xfrm>
            <a:off x="7923179" y="1484372"/>
            <a:ext cx="3425541" cy="2718526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B8D8956B-8F2E-4DC4-3BC2-6B7D85CFE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6042" y="386748"/>
            <a:ext cx="9720072" cy="1499616"/>
          </a:xfrm>
        </p:spPr>
        <p:txBody>
          <a:bodyPr/>
          <a:lstStyle/>
          <a:p>
            <a:r>
              <a:rPr lang="en-US" dirty="0"/>
              <a:t>Model comparison without augmentations</a:t>
            </a:r>
            <a:endParaRPr lang="sk-SK" dirty="0"/>
          </a:p>
        </p:txBody>
      </p:sp>
      <p:sp>
        <p:nvSpPr>
          <p:cNvPr id="3" name="Zástupný objekt pre číslo snímky 2">
            <a:extLst>
              <a:ext uri="{FF2B5EF4-FFF2-40B4-BE49-F238E27FC236}">
                <a16:creationId xmlns:a16="http://schemas.microsoft.com/office/drawing/2014/main" id="{02D2C7E2-F7BE-C9BF-B431-F521A5885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5167" y="6491057"/>
            <a:ext cx="364914" cy="299049"/>
          </a:xfrm>
        </p:spPr>
        <p:txBody>
          <a:bodyPr/>
          <a:lstStyle/>
          <a:p>
            <a:pPr rtl="0"/>
            <a:fld id="{4FAB73BC-B049-4115-A692-8D63A059BFB8}" type="slidenum">
              <a:rPr lang="sk-SK" sz="1600" noProof="0" smtClean="0">
                <a:solidFill>
                  <a:srgbClr val="00B0F0"/>
                </a:solidFill>
              </a:rPr>
              <a:t>7</a:t>
            </a:fld>
            <a:endParaRPr lang="sk-SK" sz="1600" noProof="0" dirty="0">
              <a:solidFill>
                <a:srgbClr val="00B0F0"/>
              </a:solidFill>
            </a:endParaRPr>
          </a:p>
        </p:txBody>
      </p:sp>
      <p:graphicFrame>
        <p:nvGraphicFramePr>
          <p:cNvPr id="7" name="Zástupný objekt pre obsah 6">
            <a:extLst>
              <a:ext uri="{FF2B5EF4-FFF2-40B4-BE49-F238E27FC236}">
                <a16:creationId xmlns:a16="http://schemas.microsoft.com/office/drawing/2014/main" id="{0A1E80DA-8609-DFA1-AC3A-128C42BE3B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2476648"/>
              </p:ext>
            </p:extLst>
          </p:nvPr>
        </p:nvGraphicFramePr>
        <p:xfrm>
          <a:off x="4107756" y="4550714"/>
          <a:ext cx="774776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6941">
                  <a:extLst>
                    <a:ext uri="{9D8B030D-6E8A-4147-A177-3AD203B41FA5}">
                      <a16:colId xmlns:a16="http://schemas.microsoft.com/office/drawing/2014/main" val="1205972333"/>
                    </a:ext>
                  </a:extLst>
                </a:gridCol>
                <a:gridCol w="1936941">
                  <a:extLst>
                    <a:ext uri="{9D8B030D-6E8A-4147-A177-3AD203B41FA5}">
                      <a16:colId xmlns:a16="http://schemas.microsoft.com/office/drawing/2014/main" val="3254544323"/>
                    </a:ext>
                  </a:extLst>
                </a:gridCol>
                <a:gridCol w="1936941">
                  <a:extLst>
                    <a:ext uri="{9D8B030D-6E8A-4147-A177-3AD203B41FA5}">
                      <a16:colId xmlns:a16="http://schemas.microsoft.com/office/drawing/2014/main" val="3505790344"/>
                    </a:ext>
                  </a:extLst>
                </a:gridCol>
                <a:gridCol w="1936941">
                  <a:extLst>
                    <a:ext uri="{9D8B030D-6E8A-4147-A177-3AD203B41FA5}">
                      <a16:colId xmlns:a16="http://schemas.microsoft.com/office/drawing/2014/main" val="1054725703"/>
                    </a:ext>
                  </a:extLst>
                </a:gridCol>
              </a:tblGrid>
              <a:tr h="3315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 metrics</a:t>
                      </a:r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CNN by Iványi</a:t>
                      </a:r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ResNet-18</a:t>
                      </a:r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Swin Transformer</a:t>
                      </a:r>
                      <a:endParaRPr lang="sk-S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8680876"/>
                  </a:ext>
                </a:extLst>
              </a:tr>
              <a:tr h="3315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Recall</a:t>
                      </a:r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72.5%</a:t>
                      </a:r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71.43%</a:t>
                      </a:r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68.57%</a:t>
                      </a:r>
                      <a:endParaRPr lang="sk-S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2348597"/>
                  </a:ext>
                </a:extLst>
              </a:tr>
              <a:tr h="3315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Precision</a:t>
                      </a:r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72.14%</a:t>
                      </a:r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68.61%</a:t>
                      </a:r>
                      <a:endParaRPr lang="sk-S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127146"/>
                  </a:ext>
                </a:extLst>
              </a:tr>
              <a:tr h="3315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F1 score</a:t>
                      </a:r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70.51%</a:t>
                      </a:r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68.25%</a:t>
                      </a:r>
                      <a:endParaRPr lang="sk-S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2627623"/>
                  </a:ext>
                </a:extLst>
              </a:tr>
              <a:tr h="3315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Loss</a:t>
                      </a:r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0.9951</a:t>
                      </a:r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1.0253</a:t>
                      </a:r>
                      <a:endParaRPr lang="sk-S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234400"/>
                  </a:ext>
                </a:extLst>
              </a:tr>
            </a:tbl>
          </a:graphicData>
        </a:graphic>
      </p:graphicFrame>
      <p:pic>
        <p:nvPicPr>
          <p:cNvPr id="10" name="Obrázok 9" descr="Obrázok, na ktorom je text, diagram, vývoj, rad&#10;&#10;Obsah vygenerovaný pomocou AI môže byť nesprávny.">
            <a:extLst>
              <a:ext uri="{FF2B5EF4-FFF2-40B4-BE49-F238E27FC236}">
                <a16:creationId xmlns:a16="http://schemas.microsoft.com/office/drawing/2014/main" id="{CC858A1A-0FC4-F4C9-E77A-C69F36E0ED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46" t="6221" r="8000" b="4567"/>
          <a:stretch>
            <a:fillRect/>
          </a:stretch>
        </p:blipFill>
        <p:spPr>
          <a:xfrm>
            <a:off x="677377" y="1569333"/>
            <a:ext cx="3351600" cy="2624233"/>
          </a:xfrm>
          <a:prstGeom prst="rect">
            <a:avLst/>
          </a:prstGeom>
        </p:spPr>
      </p:pic>
      <p:pic>
        <p:nvPicPr>
          <p:cNvPr id="12" name="Obrázok 11" descr="Obrázok, na ktorom je text, diagram, vývoj, rad&#10;&#10;Obsah vygenerovaný pomocou AI môže byť nesprávny.">
            <a:extLst>
              <a:ext uri="{FF2B5EF4-FFF2-40B4-BE49-F238E27FC236}">
                <a16:creationId xmlns:a16="http://schemas.microsoft.com/office/drawing/2014/main" id="{8D2A89CA-4D9E-C04A-339E-E516696E88B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40" t="5345" r="7907" b="4491"/>
          <a:stretch>
            <a:fillRect/>
          </a:stretch>
        </p:blipFill>
        <p:spPr>
          <a:xfrm>
            <a:off x="677377" y="4193566"/>
            <a:ext cx="3351600" cy="2649169"/>
          </a:xfrm>
          <a:prstGeom prst="rect">
            <a:avLst/>
          </a:prstGeom>
        </p:spPr>
      </p:pic>
      <p:pic>
        <p:nvPicPr>
          <p:cNvPr id="14" name="Obrázok 13" descr="Obrázok, na ktorom je text, vývoj, diagram, snímka obrazovky&#10;&#10;Obsah vygenerovaný pomocou AI môže byť nesprávny.">
            <a:extLst>
              <a:ext uri="{FF2B5EF4-FFF2-40B4-BE49-F238E27FC236}">
                <a16:creationId xmlns:a16="http://schemas.microsoft.com/office/drawing/2014/main" id="{5F4F9711-A97A-9237-8DA2-64024DB7651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539" t="4929" r="4773" b="5066"/>
          <a:stretch>
            <a:fillRect/>
          </a:stretch>
        </p:blipFill>
        <p:spPr>
          <a:xfrm>
            <a:off x="4312087" y="1484372"/>
            <a:ext cx="3567826" cy="2655749"/>
          </a:xfrm>
          <a:prstGeom prst="rect">
            <a:avLst/>
          </a:prstGeom>
        </p:spPr>
      </p:pic>
      <p:sp>
        <p:nvSpPr>
          <p:cNvPr id="13" name="BlokTextu 12">
            <a:extLst>
              <a:ext uri="{FF2B5EF4-FFF2-40B4-BE49-F238E27FC236}">
                <a16:creationId xmlns:a16="http://schemas.microsoft.com/office/drawing/2014/main" id="{D4556CBD-4F45-F0DA-7EC0-639D8642A95A}"/>
              </a:ext>
            </a:extLst>
          </p:cNvPr>
          <p:cNvSpPr txBox="1"/>
          <p:nvPr/>
        </p:nvSpPr>
        <p:spPr>
          <a:xfrm>
            <a:off x="6499274" y="3020161"/>
            <a:ext cx="13806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ResNet-18</a:t>
            </a:r>
            <a:endParaRPr lang="sk-SK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7" name="BlokTextu 16">
            <a:extLst>
              <a:ext uri="{FF2B5EF4-FFF2-40B4-BE49-F238E27FC236}">
                <a16:creationId xmlns:a16="http://schemas.microsoft.com/office/drawing/2014/main" id="{A42D4C82-9495-D76A-999B-5F2B36220D56}"/>
              </a:ext>
            </a:extLst>
          </p:cNvPr>
          <p:cNvSpPr txBox="1"/>
          <p:nvPr/>
        </p:nvSpPr>
        <p:spPr>
          <a:xfrm>
            <a:off x="9968081" y="3429000"/>
            <a:ext cx="13806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ResNet-18</a:t>
            </a:r>
            <a:endParaRPr lang="sk-SK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8" name="BlokTextu 17">
            <a:extLst>
              <a:ext uri="{FF2B5EF4-FFF2-40B4-BE49-F238E27FC236}">
                <a16:creationId xmlns:a16="http://schemas.microsoft.com/office/drawing/2014/main" id="{992A9BE7-B142-49A2-F1F6-D9766A7A549D}"/>
              </a:ext>
            </a:extLst>
          </p:cNvPr>
          <p:cNvSpPr txBox="1"/>
          <p:nvPr/>
        </p:nvSpPr>
        <p:spPr>
          <a:xfrm>
            <a:off x="2353177" y="3020161"/>
            <a:ext cx="1817076" cy="338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Swin Transformer</a:t>
            </a:r>
            <a:endParaRPr lang="sk-SK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9" name="BlokTextu 18">
            <a:extLst>
              <a:ext uri="{FF2B5EF4-FFF2-40B4-BE49-F238E27FC236}">
                <a16:creationId xmlns:a16="http://schemas.microsoft.com/office/drawing/2014/main" id="{592BAB8A-3EC5-DB4A-C64D-2E0681D1457A}"/>
              </a:ext>
            </a:extLst>
          </p:cNvPr>
          <p:cNvSpPr txBox="1"/>
          <p:nvPr/>
        </p:nvSpPr>
        <p:spPr>
          <a:xfrm>
            <a:off x="1006561" y="6210236"/>
            <a:ext cx="1817076" cy="338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Swin Transformer</a:t>
            </a:r>
            <a:endParaRPr lang="sk-SK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1885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663989F-1ADC-DFCF-0695-6221A95B3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ResNet-18 augmentation test results</a:t>
            </a:r>
            <a:endParaRPr lang="sk-SK" dirty="0"/>
          </a:p>
        </p:txBody>
      </p:sp>
      <p:graphicFrame>
        <p:nvGraphicFramePr>
          <p:cNvPr id="5" name="Zástupný objekt pre obsah 4">
            <a:extLst>
              <a:ext uri="{FF2B5EF4-FFF2-40B4-BE49-F238E27FC236}">
                <a16:creationId xmlns:a16="http://schemas.microsoft.com/office/drawing/2014/main" id="{BFB8E0E2-4AD7-027C-EDBB-C50B6F1394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839186"/>
              </p:ext>
            </p:extLst>
          </p:nvPr>
        </p:nvGraphicFramePr>
        <p:xfrm>
          <a:off x="1189301" y="2084832"/>
          <a:ext cx="9813398" cy="3355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9106">
                  <a:extLst>
                    <a:ext uri="{9D8B030D-6E8A-4147-A177-3AD203B41FA5}">
                      <a16:colId xmlns:a16="http://schemas.microsoft.com/office/drawing/2014/main" val="1715744727"/>
                    </a:ext>
                  </a:extLst>
                </a:gridCol>
                <a:gridCol w="1154714">
                  <a:extLst>
                    <a:ext uri="{9D8B030D-6E8A-4147-A177-3AD203B41FA5}">
                      <a16:colId xmlns:a16="http://schemas.microsoft.com/office/drawing/2014/main" val="3087064347"/>
                    </a:ext>
                  </a:extLst>
                </a:gridCol>
                <a:gridCol w="1304145">
                  <a:extLst>
                    <a:ext uri="{9D8B030D-6E8A-4147-A177-3AD203B41FA5}">
                      <a16:colId xmlns:a16="http://schemas.microsoft.com/office/drawing/2014/main" val="2158734126"/>
                    </a:ext>
                  </a:extLst>
                </a:gridCol>
                <a:gridCol w="1439055">
                  <a:extLst>
                    <a:ext uri="{9D8B030D-6E8A-4147-A177-3AD203B41FA5}">
                      <a16:colId xmlns:a16="http://schemas.microsoft.com/office/drawing/2014/main" val="806393913"/>
                    </a:ext>
                  </a:extLst>
                </a:gridCol>
                <a:gridCol w="1124263">
                  <a:extLst>
                    <a:ext uri="{9D8B030D-6E8A-4147-A177-3AD203B41FA5}">
                      <a16:colId xmlns:a16="http://schemas.microsoft.com/office/drawing/2014/main" val="1122729352"/>
                    </a:ext>
                  </a:extLst>
                </a:gridCol>
                <a:gridCol w="1064301">
                  <a:extLst>
                    <a:ext uri="{9D8B030D-6E8A-4147-A177-3AD203B41FA5}">
                      <a16:colId xmlns:a16="http://schemas.microsoft.com/office/drawing/2014/main" val="459766622"/>
                    </a:ext>
                  </a:extLst>
                </a:gridCol>
                <a:gridCol w="2487814">
                  <a:extLst>
                    <a:ext uri="{9D8B030D-6E8A-4147-A177-3AD203B41FA5}">
                      <a16:colId xmlns:a16="http://schemas.microsoft.com/office/drawing/2014/main" val="2280012450"/>
                    </a:ext>
                  </a:extLst>
                </a:gridCol>
              </a:tblGrid>
              <a:tr h="530902">
                <a:tc>
                  <a:txBody>
                    <a:bodyPr/>
                    <a:lstStyle/>
                    <a:p>
                      <a:pPr algn="ctr"/>
                      <a:endParaRPr lang="sk-SK" sz="2000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Augmentation type</a:t>
                      </a:r>
                      <a:endParaRPr lang="sk-SK" sz="2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sk-SK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sk-SK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sk-SK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sk-SK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sk-S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8893583"/>
                  </a:ext>
                </a:extLst>
              </a:tr>
              <a:tr h="530902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TTA test metrics</a:t>
                      </a:r>
                      <a:endParaRPr lang="sk-SK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1CAD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no</a:t>
                      </a:r>
                      <a:endParaRPr lang="sk-SK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1CAD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contrast. brightness</a:t>
                      </a:r>
                      <a:endParaRPr lang="sk-SK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1CAD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translation</a:t>
                      </a:r>
                      <a:endParaRPr lang="sk-SK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1CAD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rotation</a:t>
                      </a:r>
                      <a:endParaRPr lang="sk-SK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1CAD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crop</a:t>
                      </a:r>
                      <a:endParaRPr lang="sk-SK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1CAD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contrast, brightness, translation, rotation</a:t>
                      </a:r>
                      <a:endParaRPr lang="sk-SK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1CAD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895798"/>
                  </a:ext>
                </a:extLst>
              </a:tr>
              <a:tr h="53090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Recall</a:t>
                      </a:r>
                      <a:endParaRPr lang="sk-S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71.43%</a:t>
                      </a:r>
                      <a:endParaRPr lang="sk-S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72.38%</a:t>
                      </a:r>
                      <a:endParaRPr lang="sk-S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73.33%</a:t>
                      </a:r>
                      <a:endParaRPr lang="sk-S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73.33%</a:t>
                      </a:r>
                      <a:endParaRPr lang="sk-S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50.48%</a:t>
                      </a:r>
                      <a:endParaRPr lang="sk-S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77.14%</a:t>
                      </a:r>
                      <a:endParaRPr lang="sk-SK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074855"/>
                  </a:ext>
                </a:extLst>
              </a:tr>
              <a:tr h="53090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Precision</a:t>
                      </a:r>
                      <a:endParaRPr lang="sk-S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72.14%</a:t>
                      </a:r>
                      <a:endParaRPr lang="sk-S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72.69%</a:t>
                      </a:r>
                      <a:endParaRPr lang="sk-S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73.51%</a:t>
                      </a:r>
                      <a:endParaRPr lang="sk-S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73.37%</a:t>
                      </a:r>
                      <a:endParaRPr lang="sk-S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53.43%</a:t>
                      </a:r>
                      <a:endParaRPr lang="sk-S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77.61%</a:t>
                      </a:r>
                      <a:endParaRPr lang="sk-SK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9550555"/>
                  </a:ext>
                </a:extLst>
              </a:tr>
              <a:tr h="53090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F1 score</a:t>
                      </a:r>
                      <a:endParaRPr lang="sk-S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70.51%</a:t>
                      </a:r>
                      <a:endParaRPr lang="sk-S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71.58%</a:t>
                      </a:r>
                      <a:endParaRPr lang="sk-S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73.17%</a:t>
                      </a:r>
                      <a:endParaRPr lang="sk-S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72.77%</a:t>
                      </a:r>
                      <a:endParaRPr lang="sk-S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42.88%</a:t>
                      </a:r>
                      <a:endParaRPr lang="sk-S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76.94%</a:t>
                      </a:r>
                      <a:endParaRPr lang="sk-SK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3901800"/>
                  </a:ext>
                </a:extLst>
              </a:tr>
              <a:tr h="53090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Loss</a:t>
                      </a:r>
                      <a:endParaRPr lang="sk-S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0.9951</a:t>
                      </a:r>
                      <a:endParaRPr lang="sk-S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0.8071</a:t>
                      </a:r>
                      <a:endParaRPr lang="sk-S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0.9922</a:t>
                      </a:r>
                      <a:endParaRPr lang="sk-S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0.9214</a:t>
                      </a:r>
                      <a:endParaRPr lang="sk-S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1.0312</a:t>
                      </a:r>
                      <a:endParaRPr lang="sk-S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0.6135</a:t>
                      </a:r>
                      <a:endParaRPr lang="sk-SK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8353870"/>
                  </a:ext>
                </a:extLst>
              </a:tr>
            </a:tbl>
          </a:graphicData>
        </a:graphic>
      </p:graphicFrame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70B95D25-7474-0F64-ACAE-F839A09CC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99333" y="6511344"/>
            <a:ext cx="308187" cy="234896"/>
          </a:xfrm>
        </p:spPr>
        <p:txBody>
          <a:bodyPr/>
          <a:lstStyle/>
          <a:p>
            <a:pPr rtl="0"/>
            <a:fld id="{4FAB73BC-B049-4115-A692-8D63A059BFB8}" type="slidenum">
              <a:rPr lang="sk-SK" sz="1600" noProof="0" smtClean="0">
                <a:solidFill>
                  <a:schemeClr val="accent1"/>
                </a:solidFill>
              </a:rPr>
              <a:t>8</a:t>
            </a:fld>
            <a:endParaRPr lang="sk-SK" sz="1600" noProof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1833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Obrázok 20" descr="Obrázok, na ktorom je text, diagram, vývoj, rad&#10;&#10;Obsah vygenerovaný pomocou AI môže byť nesprávny.">
            <a:extLst>
              <a:ext uri="{FF2B5EF4-FFF2-40B4-BE49-F238E27FC236}">
                <a16:creationId xmlns:a16="http://schemas.microsoft.com/office/drawing/2014/main" id="{421F2A5E-8E1A-B221-689F-A3220BC1F3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5" t="7715" r="3588" b="4833"/>
          <a:stretch>
            <a:fillRect/>
          </a:stretch>
        </p:blipFill>
        <p:spPr>
          <a:xfrm>
            <a:off x="8053089" y="1133296"/>
            <a:ext cx="3925566" cy="2816748"/>
          </a:xfrm>
          <a:prstGeom prst="rect">
            <a:avLst/>
          </a:prstGeom>
        </p:spPr>
      </p:pic>
      <p:pic>
        <p:nvPicPr>
          <p:cNvPr id="15" name="Obrázok 14" descr="Obrázok, na ktorom je text, vývoj, diagram, snímka obrazovky&#10;&#10;Obsah vygenerovaný pomocou AI môže byť nesprávny.">
            <a:extLst>
              <a:ext uri="{FF2B5EF4-FFF2-40B4-BE49-F238E27FC236}">
                <a16:creationId xmlns:a16="http://schemas.microsoft.com/office/drawing/2014/main" id="{60273A02-4693-60DE-3953-91D42F780C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028" t="3979" r="3588" b="7665"/>
          <a:stretch>
            <a:fillRect/>
          </a:stretch>
        </p:blipFill>
        <p:spPr>
          <a:xfrm>
            <a:off x="388827" y="3905646"/>
            <a:ext cx="3925566" cy="2878111"/>
          </a:xfrm>
          <a:prstGeom prst="rect">
            <a:avLst/>
          </a:prstGeom>
        </p:spPr>
      </p:pic>
      <p:pic>
        <p:nvPicPr>
          <p:cNvPr id="13" name="Obrázok 12" descr="Obrázok, na ktorom je text, vývoj, diagram, snímka obrazovky&#10;&#10;Obsah vygenerovaný pomocou AI môže byť nesprávny.">
            <a:extLst>
              <a:ext uri="{FF2B5EF4-FFF2-40B4-BE49-F238E27FC236}">
                <a16:creationId xmlns:a16="http://schemas.microsoft.com/office/drawing/2014/main" id="{D6F3CAAA-8996-8D27-402A-5A2C50E6AE3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491" t="5004" r="5857" b="5175"/>
          <a:stretch>
            <a:fillRect/>
          </a:stretch>
        </p:blipFill>
        <p:spPr>
          <a:xfrm>
            <a:off x="372786" y="1092819"/>
            <a:ext cx="3856259" cy="2897703"/>
          </a:xfrm>
          <a:prstGeom prst="rect">
            <a:avLst/>
          </a:prstGeom>
        </p:spPr>
      </p:pic>
      <p:pic>
        <p:nvPicPr>
          <p:cNvPr id="10" name="Obrázok 9" descr="Obrázok, na ktorom je diagram, vývoj, rad, text&#10;&#10;Obsah vygenerovaný pomocou AI môže byť nesprávny.">
            <a:extLst>
              <a:ext uri="{FF2B5EF4-FFF2-40B4-BE49-F238E27FC236}">
                <a16:creationId xmlns:a16="http://schemas.microsoft.com/office/drawing/2014/main" id="{6028EE93-06B8-6336-5A67-0C186932F52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540" t="4662" r="6370" b="5857"/>
          <a:stretch>
            <a:fillRect/>
          </a:stretch>
        </p:blipFill>
        <p:spPr>
          <a:xfrm>
            <a:off x="4247215" y="3832880"/>
            <a:ext cx="3760379" cy="2897703"/>
          </a:xfrm>
          <a:prstGeom prst="rect">
            <a:avLst/>
          </a:prstGeom>
        </p:spPr>
      </p:pic>
      <p:pic>
        <p:nvPicPr>
          <p:cNvPr id="7" name="Obrázok 6" descr="Obrázok, na ktorom je text, diagram, vývoj, rad&#10;&#10;Obsah vygenerovaný pomocou AI môže byť nesprávny.">
            <a:extLst>
              <a:ext uri="{FF2B5EF4-FFF2-40B4-BE49-F238E27FC236}">
                <a16:creationId xmlns:a16="http://schemas.microsoft.com/office/drawing/2014/main" id="{9CE7DA3B-F1FB-F396-E578-A21DCCAAB18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755" t="4974" r="4613" b="5096"/>
          <a:stretch>
            <a:fillRect/>
          </a:stretch>
        </p:blipFill>
        <p:spPr>
          <a:xfrm>
            <a:off x="7944786" y="3852472"/>
            <a:ext cx="3867463" cy="2878111"/>
          </a:xfrm>
          <a:prstGeom prst="rect">
            <a:avLst/>
          </a:prstGeom>
        </p:spPr>
      </p:pic>
      <p:pic>
        <p:nvPicPr>
          <p:cNvPr id="5" name="Obrázok 4" descr="Obrázok, na ktorom je text, diagram, vývoj, snímka obrazovky&#10;&#10;Obsah vygenerovaný pomocou AI môže byť nesprávny.">
            <a:extLst>
              <a:ext uri="{FF2B5EF4-FFF2-40B4-BE49-F238E27FC236}">
                <a16:creationId xmlns:a16="http://schemas.microsoft.com/office/drawing/2014/main" id="{3704F047-2237-5DD1-FE60-30FD3820145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755" t="5503" r="7122" b="4568"/>
          <a:stretch>
            <a:fillRect/>
          </a:stretch>
        </p:blipFill>
        <p:spPr>
          <a:xfrm>
            <a:off x="4202578" y="1080708"/>
            <a:ext cx="3760379" cy="2878111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0BFF1B1D-63E2-E9F4-EEC2-0A7EDC670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840" y="73437"/>
            <a:ext cx="10739120" cy="1499616"/>
          </a:xfrm>
        </p:spPr>
        <p:txBody>
          <a:bodyPr>
            <a:normAutofit/>
          </a:bodyPr>
          <a:lstStyle/>
          <a:p>
            <a:r>
              <a:rPr lang="en-US" sz="3600" dirty="0"/>
              <a:t>Validation Accuracy Curves of Resnet-18 models</a:t>
            </a:r>
            <a:endParaRPr lang="sk-SK" sz="3600" dirty="0"/>
          </a:p>
        </p:txBody>
      </p:sp>
      <p:sp>
        <p:nvSpPr>
          <p:cNvPr id="39" name="BlokTextu 38">
            <a:extLst>
              <a:ext uri="{FF2B5EF4-FFF2-40B4-BE49-F238E27FC236}">
                <a16:creationId xmlns:a16="http://schemas.microsoft.com/office/drawing/2014/main" id="{1FA8323D-789B-F2BC-0F3A-A5FC6BFD5C4F}"/>
              </a:ext>
            </a:extLst>
          </p:cNvPr>
          <p:cNvSpPr txBox="1"/>
          <p:nvPr/>
        </p:nvSpPr>
        <p:spPr>
          <a:xfrm>
            <a:off x="6345947" y="2752238"/>
            <a:ext cx="1380639" cy="323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Color jittering</a:t>
            </a:r>
            <a:endParaRPr lang="sk-SK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0" name="BlokTextu 19">
            <a:extLst>
              <a:ext uri="{FF2B5EF4-FFF2-40B4-BE49-F238E27FC236}">
                <a16:creationId xmlns:a16="http://schemas.microsoft.com/office/drawing/2014/main" id="{3A3F1854-2E55-1FCB-570D-C33EF6A05D4E}"/>
              </a:ext>
            </a:extLst>
          </p:cNvPr>
          <p:cNvSpPr txBox="1"/>
          <p:nvPr/>
        </p:nvSpPr>
        <p:spPr>
          <a:xfrm>
            <a:off x="2371927" y="2752238"/>
            <a:ext cx="1667532" cy="288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No augmentation</a:t>
            </a:r>
            <a:endParaRPr lang="sk-SK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7" name="BlokTextu 26">
            <a:extLst>
              <a:ext uri="{FF2B5EF4-FFF2-40B4-BE49-F238E27FC236}">
                <a16:creationId xmlns:a16="http://schemas.microsoft.com/office/drawing/2014/main" id="{0A9C3341-77CB-4ECF-90BB-7B590034ED10}"/>
              </a:ext>
            </a:extLst>
          </p:cNvPr>
          <p:cNvSpPr txBox="1"/>
          <p:nvPr/>
        </p:nvSpPr>
        <p:spPr>
          <a:xfrm>
            <a:off x="6814973" y="6049369"/>
            <a:ext cx="8102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Crop</a:t>
            </a:r>
            <a:endParaRPr lang="sk-SK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5" name="BlokTextu 34">
            <a:extLst>
              <a:ext uri="{FF2B5EF4-FFF2-40B4-BE49-F238E27FC236}">
                <a16:creationId xmlns:a16="http://schemas.microsoft.com/office/drawing/2014/main" id="{010C5D14-FB4E-69F6-2C36-8C3DEC3C8664}"/>
              </a:ext>
            </a:extLst>
          </p:cNvPr>
          <p:cNvSpPr txBox="1"/>
          <p:nvPr/>
        </p:nvSpPr>
        <p:spPr>
          <a:xfrm>
            <a:off x="2740066" y="5514722"/>
            <a:ext cx="1119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Rotation</a:t>
            </a:r>
            <a:endParaRPr lang="sk-SK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4" name="BlokTextu 43">
            <a:extLst>
              <a:ext uri="{FF2B5EF4-FFF2-40B4-BE49-F238E27FC236}">
                <a16:creationId xmlns:a16="http://schemas.microsoft.com/office/drawing/2014/main" id="{4A7F02D0-35BB-67BF-B6D4-B8E55C6C1403}"/>
              </a:ext>
            </a:extLst>
          </p:cNvPr>
          <p:cNvSpPr txBox="1"/>
          <p:nvPr/>
        </p:nvSpPr>
        <p:spPr>
          <a:xfrm>
            <a:off x="10233199" y="2744869"/>
            <a:ext cx="17454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Translation</a:t>
            </a:r>
            <a:endParaRPr lang="sk-SK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6" name="BlokTextu 45">
            <a:extLst>
              <a:ext uri="{FF2B5EF4-FFF2-40B4-BE49-F238E27FC236}">
                <a16:creationId xmlns:a16="http://schemas.microsoft.com/office/drawing/2014/main" id="{8A736647-B615-E642-0CB4-93176DA46C66}"/>
              </a:ext>
            </a:extLst>
          </p:cNvPr>
          <p:cNvSpPr txBox="1"/>
          <p:nvPr/>
        </p:nvSpPr>
        <p:spPr>
          <a:xfrm>
            <a:off x="9320126" y="6011511"/>
            <a:ext cx="22698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Combined augmentation</a:t>
            </a:r>
            <a:endParaRPr lang="sk-SK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Zástupný objekt pre číslo snímky 2">
            <a:extLst>
              <a:ext uri="{FF2B5EF4-FFF2-40B4-BE49-F238E27FC236}">
                <a16:creationId xmlns:a16="http://schemas.microsoft.com/office/drawing/2014/main" id="{59378F49-0C89-DD76-BA06-618030E8C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5166" y="6468374"/>
            <a:ext cx="973667" cy="274320"/>
          </a:xfrm>
        </p:spPr>
        <p:txBody>
          <a:bodyPr/>
          <a:lstStyle/>
          <a:p>
            <a:pPr rtl="0"/>
            <a:fld id="{4FAB73BC-B049-4115-A692-8D63A059BFB8}" type="slidenum">
              <a:rPr lang="sk-SK" sz="1600" noProof="0" smtClean="0">
                <a:solidFill>
                  <a:srgbClr val="00B0F0"/>
                </a:solidFill>
              </a:rPr>
              <a:t>9</a:t>
            </a:fld>
            <a:endParaRPr lang="sk-SK" sz="16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6966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68605-92CB-6908-24C7-DBE5573CC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56055F2-4378-A09E-A213-95BC3D294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7" y="585216"/>
            <a:ext cx="10413367" cy="1499616"/>
          </a:xfrm>
        </p:spPr>
        <p:txBody>
          <a:bodyPr/>
          <a:lstStyle/>
          <a:p>
            <a:r>
              <a:rPr lang="en-US" dirty="0"/>
              <a:t>Swin transformer augmentation test results</a:t>
            </a:r>
            <a:endParaRPr lang="sk-SK" dirty="0"/>
          </a:p>
        </p:txBody>
      </p:sp>
      <p:graphicFrame>
        <p:nvGraphicFramePr>
          <p:cNvPr id="5" name="Zástupný objekt pre obsah 4">
            <a:extLst>
              <a:ext uri="{FF2B5EF4-FFF2-40B4-BE49-F238E27FC236}">
                <a16:creationId xmlns:a16="http://schemas.microsoft.com/office/drawing/2014/main" id="{8BF56D8E-E960-EE33-C90B-7AD0529FC0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652719"/>
              </p:ext>
            </p:extLst>
          </p:nvPr>
        </p:nvGraphicFramePr>
        <p:xfrm>
          <a:off x="1189301" y="2084832"/>
          <a:ext cx="9813398" cy="3355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9106">
                  <a:extLst>
                    <a:ext uri="{9D8B030D-6E8A-4147-A177-3AD203B41FA5}">
                      <a16:colId xmlns:a16="http://schemas.microsoft.com/office/drawing/2014/main" val="1715744727"/>
                    </a:ext>
                  </a:extLst>
                </a:gridCol>
                <a:gridCol w="1154714">
                  <a:extLst>
                    <a:ext uri="{9D8B030D-6E8A-4147-A177-3AD203B41FA5}">
                      <a16:colId xmlns:a16="http://schemas.microsoft.com/office/drawing/2014/main" val="3087064347"/>
                    </a:ext>
                  </a:extLst>
                </a:gridCol>
                <a:gridCol w="1304145">
                  <a:extLst>
                    <a:ext uri="{9D8B030D-6E8A-4147-A177-3AD203B41FA5}">
                      <a16:colId xmlns:a16="http://schemas.microsoft.com/office/drawing/2014/main" val="2158734126"/>
                    </a:ext>
                  </a:extLst>
                </a:gridCol>
                <a:gridCol w="1439055">
                  <a:extLst>
                    <a:ext uri="{9D8B030D-6E8A-4147-A177-3AD203B41FA5}">
                      <a16:colId xmlns:a16="http://schemas.microsoft.com/office/drawing/2014/main" val="806393913"/>
                    </a:ext>
                  </a:extLst>
                </a:gridCol>
                <a:gridCol w="1124263">
                  <a:extLst>
                    <a:ext uri="{9D8B030D-6E8A-4147-A177-3AD203B41FA5}">
                      <a16:colId xmlns:a16="http://schemas.microsoft.com/office/drawing/2014/main" val="1122729352"/>
                    </a:ext>
                  </a:extLst>
                </a:gridCol>
                <a:gridCol w="1064301">
                  <a:extLst>
                    <a:ext uri="{9D8B030D-6E8A-4147-A177-3AD203B41FA5}">
                      <a16:colId xmlns:a16="http://schemas.microsoft.com/office/drawing/2014/main" val="459766622"/>
                    </a:ext>
                  </a:extLst>
                </a:gridCol>
                <a:gridCol w="2487814">
                  <a:extLst>
                    <a:ext uri="{9D8B030D-6E8A-4147-A177-3AD203B41FA5}">
                      <a16:colId xmlns:a16="http://schemas.microsoft.com/office/drawing/2014/main" val="2280012450"/>
                    </a:ext>
                  </a:extLst>
                </a:gridCol>
              </a:tblGrid>
              <a:tr h="530902">
                <a:tc>
                  <a:txBody>
                    <a:bodyPr/>
                    <a:lstStyle/>
                    <a:p>
                      <a:pPr algn="ctr"/>
                      <a:endParaRPr lang="sk-SK" sz="2000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Augmentation type</a:t>
                      </a:r>
                      <a:endParaRPr lang="sk-SK" sz="2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sk-SK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sk-SK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sk-SK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sk-SK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sk-S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8893583"/>
                  </a:ext>
                </a:extLst>
              </a:tr>
              <a:tr h="530902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TTA test metrics</a:t>
                      </a:r>
                      <a:endParaRPr lang="sk-SK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1CAD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no</a:t>
                      </a:r>
                      <a:endParaRPr lang="sk-SK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1CAD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contrast. brightness</a:t>
                      </a:r>
                      <a:endParaRPr lang="sk-SK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1CAD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translation</a:t>
                      </a:r>
                      <a:endParaRPr lang="sk-SK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1CAD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rotation</a:t>
                      </a:r>
                      <a:endParaRPr lang="sk-SK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1CAD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crop</a:t>
                      </a:r>
                      <a:endParaRPr lang="sk-SK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1CAD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contrast, brightness, translation, rotation</a:t>
                      </a:r>
                      <a:endParaRPr lang="sk-SK" sz="20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1CAD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895798"/>
                  </a:ext>
                </a:extLst>
              </a:tr>
              <a:tr h="53090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Recall</a:t>
                      </a:r>
                      <a:endParaRPr lang="sk-S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68.57%</a:t>
                      </a:r>
                      <a:endParaRPr lang="sk-S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64.76%</a:t>
                      </a:r>
                      <a:endParaRPr lang="sk-S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66.67%</a:t>
                      </a:r>
                      <a:endParaRPr lang="sk-S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73.33%</a:t>
                      </a:r>
                      <a:endParaRPr lang="sk-SK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24.76%</a:t>
                      </a:r>
                      <a:endParaRPr lang="sk-S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69.52%</a:t>
                      </a:r>
                      <a:endParaRPr lang="sk-SK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074855"/>
                  </a:ext>
                </a:extLst>
              </a:tr>
              <a:tr h="53090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Precision</a:t>
                      </a:r>
                      <a:endParaRPr lang="sk-S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68.61%</a:t>
                      </a:r>
                      <a:endParaRPr lang="sk-S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65.41%</a:t>
                      </a:r>
                      <a:endParaRPr lang="sk-S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66.71%</a:t>
                      </a:r>
                      <a:endParaRPr lang="sk-S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73.29%</a:t>
                      </a:r>
                      <a:endParaRPr lang="sk-SK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6.13%</a:t>
                      </a:r>
                      <a:endParaRPr lang="sk-S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69.08%</a:t>
                      </a:r>
                      <a:endParaRPr lang="sk-SK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9550555"/>
                  </a:ext>
                </a:extLst>
              </a:tr>
              <a:tr h="53090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F1 score</a:t>
                      </a:r>
                      <a:endParaRPr lang="sk-S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68.25%</a:t>
                      </a:r>
                      <a:endParaRPr lang="sk-S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64.98%</a:t>
                      </a:r>
                      <a:endParaRPr lang="sk-S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66.57%</a:t>
                      </a:r>
                      <a:endParaRPr lang="sk-S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72.23%</a:t>
                      </a:r>
                      <a:endParaRPr lang="sk-SK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9.83%</a:t>
                      </a:r>
                      <a:endParaRPr lang="sk-S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68.85%</a:t>
                      </a:r>
                      <a:endParaRPr lang="sk-SK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3901800"/>
                  </a:ext>
                </a:extLst>
              </a:tr>
              <a:tr h="53090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Loss</a:t>
                      </a:r>
                      <a:endParaRPr lang="sk-S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1.0253</a:t>
                      </a:r>
                      <a:endParaRPr lang="sk-S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0.987</a:t>
                      </a:r>
                      <a:endParaRPr lang="sk-S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0.7173</a:t>
                      </a:r>
                      <a:endParaRPr lang="sk-S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0.7681</a:t>
                      </a:r>
                      <a:endParaRPr lang="sk-SK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2.4093</a:t>
                      </a:r>
                      <a:endParaRPr lang="sk-S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/>
                        <a:t>0.7053</a:t>
                      </a:r>
                      <a:endParaRPr lang="sk-SK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8353870"/>
                  </a:ext>
                </a:extLst>
              </a:tr>
            </a:tbl>
          </a:graphicData>
        </a:graphic>
      </p:graphicFrame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9D6C0902-8961-0BBB-0687-FF4B4B5E8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9173" y="6491024"/>
            <a:ext cx="399627" cy="265376"/>
          </a:xfrm>
        </p:spPr>
        <p:txBody>
          <a:bodyPr/>
          <a:lstStyle/>
          <a:p>
            <a:pPr rtl="0"/>
            <a:fld id="{4FAB73BC-B049-4115-A692-8D63A059BFB8}" type="slidenum">
              <a:rPr lang="sk-SK" sz="1600" noProof="0" smtClean="0">
                <a:solidFill>
                  <a:schemeClr val="accent1"/>
                </a:solidFill>
              </a:rPr>
              <a:t>10</a:t>
            </a:fld>
            <a:endParaRPr lang="sk-SK" noProof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5401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61EB2C3-30D1-41FF-F1AA-298C7F4EB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plans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90B2773-2F04-1CD1-7E5B-A8A807612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355088"/>
            <a:ext cx="10008633" cy="424426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Transition from 4-class classification to a 6-class setup, where each class represents a six-point score interval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Best performing model: ResNet-18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Best performing augmentation: combination of multiple augmentations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Preprocessing step: drawing reconstruction to remove background noise and enhance line visibility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Baseline model: ResNet-18 without any preprocessing or augmentation, compared against preprocessing only, augmentation only, and the combination of both </a:t>
            </a:r>
            <a:endParaRPr lang="sk-SK" sz="2400" dirty="0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86EA9C38-87C4-D9D3-CF1C-08359F260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5166" y="6500920"/>
            <a:ext cx="973667" cy="274320"/>
          </a:xfrm>
        </p:spPr>
        <p:txBody>
          <a:bodyPr/>
          <a:lstStyle/>
          <a:p>
            <a:pPr rtl="0"/>
            <a:fld id="{4FAB73BC-B049-4115-A692-8D63A059BFB8}" type="slidenum">
              <a:rPr lang="sk-SK" sz="1600" noProof="0" smtClean="0">
                <a:solidFill>
                  <a:srgbClr val="00B0F0"/>
                </a:solidFill>
              </a:rPr>
              <a:t>11</a:t>
            </a:fld>
            <a:endParaRPr lang="sk-SK" sz="1600" noProof="0" dirty="0">
              <a:solidFill>
                <a:srgbClr val="00B0F0"/>
              </a:solidFill>
            </a:endParaRPr>
          </a:p>
        </p:txBody>
      </p:sp>
      <p:graphicFrame>
        <p:nvGraphicFramePr>
          <p:cNvPr id="8" name="Tabuľka 7">
            <a:extLst>
              <a:ext uri="{FF2B5EF4-FFF2-40B4-BE49-F238E27FC236}">
                <a16:creationId xmlns:a16="http://schemas.microsoft.com/office/drawing/2014/main" id="{CF1BBCE2-3203-9760-D034-86286C17E5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7793106"/>
              </p:ext>
            </p:extLst>
          </p:nvPr>
        </p:nvGraphicFramePr>
        <p:xfrm>
          <a:off x="4866638" y="855472"/>
          <a:ext cx="6301234" cy="111252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2407921">
                  <a:extLst>
                    <a:ext uri="{9D8B030D-6E8A-4147-A177-3AD203B41FA5}">
                      <a16:colId xmlns:a16="http://schemas.microsoft.com/office/drawing/2014/main" val="46866519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59104415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198308180"/>
                    </a:ext>
                  </a:extLst>
                </a:gridCol>
                <a:gridCol w="650240">
                  <a:extLst>
                    <a:ext uri="{9D8B030D-6E8A-4147-A177-3AD203B41FA5}">
                      <a16:colId xmlns:a16="http://schemas.microsoft.com/office/drawing/2014/main" val="434064949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1139912507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4251098117"/>
                    </a:ext>
                  </a:extLst>
                </a:gridCol>
                <a:gridCol w="692913">
                  <a:extLst>
                    <a:ext uri="{9D8B030D-6E8A-4147-A177-3AD203B41FA5}">
                      <a16:colId xmlns:a16="http://schemas.microsoft.com/office/drawing/2014/main" val="16158009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Class</a:t>
                      </a:r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sk-S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6160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Minimal total score</a:t>
                      </a:r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6.5</a:t>
                      </a:r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12.5</a:t>
                      </a:r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18.5</a:t>
                      </a:r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24.5</a:t>
                      </a:r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30.5</a:t>
                      </a:r>
                      <a:endParaRPr lang="sk-S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5376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Maximal total score</a:t>
                      </a:r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36</a:t>
                      </a:r>
                      <a:endParaRPr lang="sk-S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415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6121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55FD2-60C8-DDEF-76E1-299B64C47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31AA091-1C53-00D7-0AE2-0A3755779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plans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EB71434-CBFB-3473-3A2B-41615C66B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612572"/>
            <a:ext cx="10008633" cy="398678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An encoder–decoder model will also be trained: the encoder compresses each drawing into a low-level feature vector, and the decoder learns to reconstruct the original image from this vector.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The encoder’s feature vectors will feed a simple neural network for final classification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This encoder-based approach will be compared with the four ResNet-18 models from the 6-class experiment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Use explainable AI techniques (e.g., Grad-CAM) to validate whether the model attends to relevant image areas during prediction</a:t>
            </a:r>
            <a:endParaRPr lang="sk-SK" sz="2400" dirty="0"/>
          </a:p>
        </p:txBody>
      </p:sp>
      <p:pic>
        <p:nvPicPr>
          <p:cNvPr id="5" name="Obrázok 4" descr="Obrázok, na ktorom je snímka obrazovky, animák, animácia&#10;&#10;Obsah vygenerovaný umelou inteligenciou môže byť nesprávny.">
            <a:extLst>
              <a:ext uri="{FF2B5EF4-FFF2-40B4-BE49-F238E27FC236}">
                <a16:creationId xmlns:a16="http://schemas.microsoft.com/office/drawing/2014/main" id="{A2B6D696-270D-F074-52B2-DCDD0D6C5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9101" y="258644"/>
            <a:ext cx="6498771" cy="2178043"/>
          </a:xfrm>
          <a:prstGeom prst="rect">
            <a:avLst/>
          </a:prstGeom>
        </p:spPr>
      </p:pic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C7681873-E819-E181-B5C8-E0C5B7784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5166" y="6500920"/>
            <a:ext cx="973667" cy="274320"/>
          </a:xfrm>
        </p:spPr>
        <p:txBody>
          <a:bodyPr/>
          <a:lstStyle/>
          <a:p>
            <a:pPr rtl="0"/>
            <a:fld id="{4FAB73BC-B049-4115-A692-8D63A059BFB8}" type="slidenum">
              <a:rPr lang="sk-SK" sz="1600" noProof="0" smtClean="0">
                <a:solidFill>
                  <a:srgbClr val="00B0F0"/>
                </a:solidFill>
              </a:rPr>
              <a:t>12</a:t>
            </a:fld>
            <a:endParaRPr lang="sk-SK" sz="16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2367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4F2E15F-6CE1-9613-2E31-6A4CFD3E6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 work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41BDD0B-B6F0-716F-4A15-11CD38158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450" y="1813810"/>
            <a:ext cx="10747714" cy="445572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sz="2400" dirty="0"/>
              <a:t> Automated scoring of a neuropsychological test: the Rey </a:t>
            </a:r>
            <a:r>
              <a:rPr lang="en-US" sz="2400" dirty="0" err="1"/>
              <a:t>Osterrieth</a:t>
            </a:r>
            <a:r>
              <a:rPr lang="en-US" sz="2400" dirty="0"/>
              <a:t> complex figure: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Detected basic shapes (rectangles, triangles) using classical computer vision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Represented lines as attributed relational graph and detected shapes using fuzzy spatial metrics inspired by Gestalt psychology</a:t>
            </a:r>
            <a:endParaRPr lang="sk-SK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 decision support system for </a:t>
            </a:r>
            <a:r>
              <a:rPr lang="en-US" sz="2400" dirty="0" err="1"/>
              <a:t>rey</a:t>
            </a:r>
            <a:r>
              <a:rPr lang="en-US" sz="2400" dirty="0"/>
              <a:t>–</a:t>
            </a:r>
            <a:r>
              <a:rPr lang="en-US" sz="2400" dirty="0" err="1"/>
              <a:t>osterrieth</a:t>
            </a:r>
            <a:r>
              <a:rPr lang="en-US" sz="2400" dirty="0"/>
              <a:t> complex figure evaluation: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Simple elements classified into 4 qualitative classes with classical CV and complex elements handled by deep learning techniques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Predicted classes of 18 elements used to estimate the final diagnosis instead of score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Automating Rey Complex Figure Test scoring using a deep learning-based approach: a potential large-scale screening tool for cognitive decline: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Large dataset (</a:t>
            </a:r>
            <a:r>
              <a:rPr lang="sk-SK" sz="2000" dirty="0"/>
              <a:t>~</a:t>
            </a:r>
            <a:r>
              <a:rPr lang="en-US" sz="2000" dirty="0"/>
              <a:t>20 000 images) used to train </a:t>
            </a:r>
            <a:r>
              <a:rPr lang="en-US" sz="2000" dirty="0" err="1"/>
              <a:t>DenseNet</a:t>
            </a:r>
            <a:r>
              <a:rPr lang="en-US" sz="2000" dirty="0"/>
              <a:t> model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Model predicts the final ROCF score and reaches human-level performance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0FDFBC17-99B9-9FF8-7541-0305FC7A7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7164" y="6370320"/>
            <a:ext cx="350520" cy="354384"/>
          </a:xfrm>
        </p:spPr>
        <p:txBody>
          <a:bodyPr/>
          <a:lstStyle/>
          <a:p>
            <a:pPr rtl="0"/>
            <a:fld id="{4FAB73BC-B049-4115-A692-8D63A059BFB8}" type="slidenum">
              <a:rPr lang="sk-SK" sz="1600" noProof="0" smtClean="0">
                <a:solidFill>
                  <a:schemeClr val="accent1"/>
                </a:solidFill>
              </a:rPr>
              <a:t>13</a:t>
            </a:fld>
            <a:endParaRPr lang="sk-SK" sz="1600" noProof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84980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824285B-0D9C-81CC-0C2C-5578563A5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7FB7E65-1EBC-78D3-58A4-7C3EF0283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7" y="1778000"/>
            <a:ext cx="10524405" cy="4847652"/>
          </a:xfrm>
        </p:spPr>
        <p:txBody>
          <a:bodyPr>
            <a:normAutofit fontScale="77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https://www.researchgate.net/publication/360370646_Modeling_Users'_Cognitive_Performance_Using_Digital_Pen_Features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>
                <a:hlinkClick r:id="rId3"/>
              </a:rPr>
              <a:t>https://medium.com/@mohamedchetoui/grad-cam-gradient-weighted-class-activation-mapping-ffd72742243a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hlinkClick r:id="rId4"/>
              </a:rPr>
              <a:t> https://www.mdpi.com/2313-433X/11/1/15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sk-SK" b="0" i="0" dirty="0">
                <a:solidFill>
                  <a:srgbClr val="000000"/>
                </a:solidFill>
                <a:effectLst/>
              </a:rPr>
              <a:t>Peter </a:t>
            </a:r>
            <a:r>
              <a:rPr lang="sk-SK" b="0" i="0" dirty="0" err="1">
                <a:solidFill>
                  <a:srgbClr val="000000"/>
                </a:solidFill>
                <a:effectLst/>
              </a:rPr>
              <a:t>Iványi</a:t>
            </a:r>
            <a:r>
              <a:rPr lang="sk-SK" b="0" i="0" dirty="0">
                <a:solidFill>
                  <a:srgbClr val="000000"/>
                </a:solidFill>
                <a:effectLst/>
              </a:rPr>
              <a:t>. Automatizované hodnotenie </a:t>
            </a:r>
            <a:r>
              <a:rPr lang="sk-SK" b="0" i="0" dirty="0" err="1">
                <a:solidFill>
                  <a:srgbClr val="000000"/>
                </a:solidFill>
                <a:effectLst/>
              </a:rPr>
              <a:t>neuropsychologického</a:t>
            </a:r>
            <a:r>
              <a:rPr lang="sk-SK" b="0" i="0" dirty="0">
                <a:solidFill>
                  <a:srgbClr val="000000"/>
                </a:solidFill>
                <a:effectLst/>
              </a:rPr>
              <a:t> testu. Diplomová práca, Slovenská technická univerzita v Bratislave, Fakulta elektrotechniky a informatiky, Bratislava, 2023.</a:t>
            </a:r>
            <a:endParaRPr lang="en-US" b="0" i="0" dirty="0">
              <a:solidFill>
                <a:srgbClr val="000000"/>
              </a:solidFill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sk-SK" b="0" i="0" dirty="0">
                <a:solidFill>
                  <a:srgbClr val="000000"/>
                </a:solidFill>
                <a:effectLst/>
              </a:rPr>
              <a:t>Miroslav </a:t>
            </a:r>
            <a:r>
              <a:rPr lang="sk-SK" b="0" i="0" dirty="0" err="1">
                <a:solidFill>
                  <a:srgbClr val="000000"/>
                </a:solidFill>
                <a:effectLst/>
              </a:rPr>
              <a:t>Čobrda</a:t>
            </a:r>
            <a:r>
              <a:rPr lang="sk-SK" b="0" i="0" dirty="0">
                <a:solidFill>
                  <a:srgbClr val="000000"/>
                </a:solidFill>
                <a:effectLst/>
              </a:rPr>
              <a:t>. Klasifikácia na základe </a:t>
            </a:r>
            <a:r>
              <a:rPr lang="sk-SK" b="0" i="0" dirty="0" err="1">
                <a:solidFill>
                  <a:srgbClr val="000000"/>
                </a:solidFill>
                <a:effectLst/>
              </a:rPr>
              <a:t>reyových</a:t>
            </a:r>
            <a:r>
              <a:rPr lang="sk-SK" b="0" i="0" dirty="0">
                <a:solidFill>
                  <a:srgbClr val="000000"/>
                </a:solidFill>
                <a:effectLst/>
              </a:rPr>
              <a:t> figúr. Diplomová práca, Slovenská technická univerzita v Bratislave, Fakulta elektrotechniky a informatiky, Bratislava, 2024</a:t>
            </a:r>
            <a:r>
              <a:rPr lang="sk-SK" b="0" i="0" dirty="0">
                <a:solidFill>
                  <a:srgbClr val="000000"/>
                </a:solidFill>
                <a:effectLst/>
                <a:latin typeface="Noto Sans Mono"/>
              </a:rPr>
              <a:t>.</a:t>
            </a:r>
            <a:endParaRPr lang="en-US" b="0" i="0" dirty="0">
              <a:solidFill>
                <a:srgbClr val="000000"/>
              </a:solidFill>
              <a:effectLst/>
              <a:latin typeface="Noto Sans Mono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R.O. </a:t>
            </a:r>
            <a:r>
              <a:rPr lang="sk-SK" dirty="0" err="1"/>
              <a:t>Canham</a:t>
            </a:r>
            <a:r>
              <a:rPr lang="sk-SK" dirty="0"/>
              <a:t>, S.L. </a:t>
            </a:r>
            <a:r>
              <a:rPr lang="sk-SK" dirty="0" err="1"/>
              <a:t>Smith</a:t>
            </a:r>
            <a:r>
              <a:rPr lang="sk-SK" dirty="0"/>
              <a:t>, and A.M. </a:t>
            </a:r>
            <a:r>
              <a:rPr lang="sk-SK" dirty="0" err="1"/>
              <a:t>Tyrrell</a:t>
            </a:r>
            <a:r>
              <a:rPr lang="sk-SK" dirty="0"/>
              <a:t>. </a:t>
            </a:r>
            <a:r>
              <a:rPr lang="sk-SK" dirty="0" err="1"/>
              <a:t>Automated</a:t>
            </a:r>
            <a:r>
              <a:rPr lang="sk-SK" dirty="0"/>
              <a:t> </a:t>
            </a:r>
            <a:r>
              <a:rPr lang="sk-SK" dirty="0" err="1"/>
              <a:t>scoring</a:t>
            </a:r>
            <a:r>
              <a:rPr lang="sk-SK" dirty="0"/>
              <a:t> of a </a:t>
            </a:r>
            <a:r>
              <a:rPr lang="sk-SK" dirty="0" err="1"/>
              <a:t>neuropsy</a:t>
            </a:r>
            <a:r>
              <a:rPr lang="sk-SK" dirty="0"/>
              <a:t> </a:t>
            </a:r>
            <a:r>
              <a:rPr lang="sk-SK" dirty="0" err="1"/>
              <a:t>chological</a:t>
            </a:r>
            <a:r>
              <a:rPr lang="sk-SK" dirty="0"/>
              <a:t> test: the </a:t>
            </a:r>
            <a:r>
              <a:rPr lang="sk-SK" dirty="0" err="1"/>
              <a:t>rey</a:t>
            </a:r>
            <a:r>
              <a:rPr lang="sk-SK" dirty="0"/>
              <a:t> </a:t>
            </a:r>
            <a:r>
              <a:rPr lang="sk-SK" dirty="0" err="1"/>
              <a:t>osterrieth</a:t>
            </a:r>
            <a:r>
              <a:rPr lang="sk-SK" dirty="0"/>
              <a:t> </a:t>
            </a:r>
            <a:r>
              <a:rPr lang="sk-SK" dirty="0" err="1"/>
              <a:t>complex</a:t>
            </a:r>
            <a:r>
              <a:rPr lang="sk-SK" dirty="0"/>
              <a:t> </a:t>
            </a:r>
            <a:r>
              <a:rPr lang="sk-SK" dirty="0" err="1"/>
              <a:t>figure</a:t>
            </a:r>
            <a:r>
              <a:rPr lang="sk-SK" dirty="0"/>
              <a:t>. In </a:t>
            </a:r>
            <a:r>
              <a:rPr lang="sk-SK" dirty="0" err="1"/>
              <a:t>Proceedings</a:t>
            </a:r>
            <a:r>
              <a:rPr lang="sk-SK" dirty="0"/>
              <a:t> of the 26th </a:t>
            </a:r>
            <a:r>
              <a:rPr lang="sk-SK" dirty="0" err="1"/>
              <a:t>Euromicro</a:t>
            </a:r>
            <a:r>
              <a:rPr lang="sk-SK" dirty="0"/>
              <a:t> </a:t>
            </a:r>
            <a:r>
              <a:rPr lang="sk-SK" dirty="0" err="1"/>
              <a:t>Conference</a:t>
            </a:r>
            <a:r>
              <a:rPr lang="sk-SK" dirty="0"/>
              <a:t>. EUROMICRO 2000. </a:t>
            </a:r>
            <a:r>
              <a:rPr lang="sk-SK" dirty="0" err="1"/>
              <a:t>Informatics</a:t>
            </a:r>
            <a:r>
              <a:rPr lang="sk-SK" dirty="0"/>
              <a:t>: </a:t>
            </a:r>
            <a:r>
              <a:rPr lang="sk-SK" dirty="0" err="1"/>
              <a:t>Inventing</a:t>
            </a:r>
            <a:r>
              <a:rPr lang="sk-SK" dirty="0"/>
              <a:t> the </a:t>
            </a:r>
            <a:r>
              <a:rPr lang="sk-SK" dirty="0" err="1"/>
              <a:t>Future</a:t>
            </a:r>
            <a:r>
              <a:rPr lang="sk-SK" dirty="0"/>
              <a:t>, </a:t>
            </a:r>
            <a:r>
              <a:rPr lang="sk-SK" dirty="0" err="1"/>
              <a:t>volume</a:t>
            </a:r>
            <a:r>
              <a:rPr lang="sk-SK" dirty="0"/>
              <a:t> 2, </a:t>
            </a:r>
            <a:r>
              <a:rPr lang="sk-SK" dirty="0" err="1"/>
              <a:t>pages</a:t>
            </a:r>
            <a:r>
              <a:rPr lang="sk-SK" dirty="0"/>
              <a:t> 406–413 vol.2, 2000.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sk-SK" dirty="0" err="1"/>
              <a:t>Davide</a:t>
            </a:r>
            <a:r>
              <a:rPr lang="sk-SK" dirty="0"/>
              <a:t> </a:t>
            </a:r>
            <a:r>
              <a:rPr lang="sk-SK" dirty="0" err="1"/>
              <a:t>Di</a:t>
            </a:r>
            <a:r>
              <a:rPr lang="sk-SK" dirty="0"/>
              <a:t> </a:t>
            </a:r>
            <a:r>
              <a:rPr lang="sk-SK" dirty="0" err="1"/>
              <a:t>Febbo</a:t>
            </a:r>
            <a:r>
              <a:rPr lang="sk-SK" dirty="0"/>
              <a:t>, Simona </a:t>
            </a:r>
            <a:r>
              <a:rPr lang="sk-SK" dirty="0" err="1"/>
              <a:t>Ferrante</a:t>
            </a:r>
            <a:r>
              <a:rPr lang="sk-SK" dirty="0"/>
              <a:t>, </a:t>
            </a:r>
            <a:r>
              <a:rPr lang="sk-SK" dirty="0" err="1"/>
              <a:t>Marco</a:t>
            </a:r>
            <a:r>
              <a:rPr lang="sk-SK" dirty="0"/>
              <a:t> </a:t>
            </a:r>
            <a:r>
              <a:rPr lang="sk-SK" dirty="0" err="1"/>
              <a:t>Baratta</a:t>
            </a:r>
            <a:r>
              <a:rPr lang="sk-SK" dirty="0"/>
              <a:t>, </a:t>
            </a:r>
            <a:r>
              <a:rPr lang="sk-SK" dirty="0" err="1"/>
              <a:t>Matteo</a:t>
            </a:r>
            <a:r>
              <a:rPr lang="sk-SK" dirty="0"/>
              <a:t> </a:t>
            </a:r>
            <a:r>
              <a:rPr lang="sk-SK" dirty="0" err="1"/>
              <a:t>Luperto</a:t>
            </a:r>
            <a:r>
              <a:rPr lang="sk-SK" dirty="0"/>
              <a:t>, Carlo Ab </a:t>
            </a:r>
            <a:r>
              <a:rPr lang="sk-SK" dirty="0" err="1"/>
              <a:t>bate</a:t>
            </a:r>
            <a:r>
              <a:rPr lang="sk-SK" dirty="0"/>
              <a:t>, </a:t>
            </a:r>
            <a:r>
              <a:rPr lang="sk-SK" dirty="0" err="1"/>
              <a:t>Pietro</a:t>
            </a:r>
            <a:r>
              <a:rPr lang="sk-SK" dirty="0"/>
              <a:t> </a:t>
            </a:r>
            <a:r>
              <a:rPr lang="sk-SK" dirty="0" err="1"/>
              <a:t>Davide</a:t>
            </a:r>
            <a:r>
              <a:rPr lang="sk-SK" dirty="0"/>
              <a:t> </a:t>
            </a:r>
            <a:r>
              <a:rPr lang="sk-SK" dirty="0" err="1"/>
              <a:t>Trimarchi</a:t>
            </a:r>
            <a:r>
              <a:rPr lang="sk-SK" dirty="0"/>
              <a:t>, </a:t>
            </a:r>
            <a:r>
              <a:rPr lang="sk-SK" dirty="0" err="1"/>
              <a:t>Fabrizio</a:t>
            </a:r>
            <a:r>
              <a:rPr lang="sk-SK" dirty="0"/>
              <a:t> </a:t>
            </a:r>
            <a:r>
              <a:rPr lang="sk-SK" dirty="0" err="1"/>
              <a:t>Giunco</a:t>
            </a:r>
            <a:r>
              <a:rPr lang="sk-SK" dirty="0"/>
              <a:t>, and </a:t>
            </a:r>
            <a:r>
              <a:rPr lang="sk-SK" dirty="0" err="1"/>
              <a:t>Matteo</a:t>
            </a:r>
            <a:r>
              <a:rPr lang="sk-SK" dirty="0"/>
              <a:t> </a:t>
            </a:r>
            <a:r>
              <a:rPr lang="sk-SK" dirty="0" err="1"/>
              <a:t>Matteucci</a:t>
            </a:r>
            <a:r>
              <a:rPr lang="sk-SK" dirty="0"/>
              <a:t>. A decision support </a:t>
            </a:r>
            <a:r>
              <a:rPr lang="sk-SK" dirty="0" err="1"/>
              <a:t>system</a:t>
            </a:r>
            <a:r>
              <a:rPr lang="sk-SK" dirty="0"/>
              <a:t> for </a:t>
            </a:r>
            <a:r>
              <a:rPr lang="sk-SK" dirty="0" err="1"/>
              <a:t>rey</a:t>
            </a:r>
            <a:r>
              <a:rPr lang="sk-SK" dirty="0"/>
              <a:t>–</a:t>
            </a:r>
            <a:r>
              <a:rPr lang="sk-SK" dirty="0" err="1"/>
              <a:t>osterrieth</a:t>
            </a:r>
            <a:r>
              <a:rPr lang="sk-SK" dirty="0"/>
              <a:t> </a:t>
            </a:r>
            <a:r>
              <a:rPr lang="sk-SK" dirty="0" err="1"/>
              <a:t>complex</a:t>
            </a:r>
            <a:r>
              <a:rPr lang="sk-SK" dirty="0"/>
              <a:t> </a:t>
            </a:r>
            <a:r>
              <a:rPr lang="sk-SK" dirty="0" err="1"/>
              <a:t>figure</a:t>
            </a:r>
            <a:r>
              <a:rPr lang="sk-SK" dirty="0"/>
              <a:t> </a:t>
            </a:r>
            <a:r>
              <a:rPr lang="sk-SK" dirty="0" err="1"/>
              <a:t>evaluation</a:t>
            </a:r>
            <a:r>
              <a:rPr lang="sk-SK" dirty="0"/>
              <a:t>. Expert Systems </a:t>
            </a:r>
            <a:r>
              <a:rPr lang="sk-SK" dirty="0" err="1"/>
              <a:t>with</a:t>
            </a:r>
            <a:r>
              <a:rPr lang="sk-SK" dirty="0"/>
              <a:t> </a:t>
            </a:r>
            <a:r>
              <a:rPr lang="sk-SK" dirty="0" err="1"/>
              <a:t>Applications</a:t>
            </a:r>
            <a:r>
              <a:rPr lang="sk-SK" dirty="0"/>
              <a:t>, 213:119226, 2023.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J. Y. Park, E. H. Seo, H. J. Yoon, and et al. Automating Rey Complex Figure Test scoring using a deep learning-based approach: a potential large-scale screening tool for cognitive decline. Alzheimer’s Research &amp; Therapy, 15:145, 2023.</a:t>
            </a:r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E64035B4-2221-1F97-43F8-82ABA8252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8533" y="6491024"/>
            <a:ext cx="973667" cy="274320"/>
          </a:xfrm>
        </p:spPr>
        <p:txBody>
          <a:bodyPr/>
          <a:lstStyle/>
          <a:p>
            <a:pPr rtl="0"/>
            <a:fld id="{4FAB73BC-B049-4115-A692-8D63A059BFB8}" type="slidenum">
              <a:rPr lang="sk-SK" sz="1600" noProof="0" smtClean="0">
                <a:solidFill>
                  <a:srgbClr val="00B0F0"/>
                </a:solidFill>
              </a:rPr>
              <a:t>14</a:t>
            </a:fld>
            <a:endParaRPr lang="sk-SK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9678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102C682-D02D-4158-0A98-3B733D705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 anchor="ctr">
            <a:normAutofit/>
          </a:bodyPr>
          <a:lstStyle/>
          <a:p>
            <a:r>
              <a:rPr lang="en-US" dirty="0"/>
              <a:t>Master’s Thesis sources</a:t>
            </a:r>
            <a:endParaRPr lang="sk-SK" dirty="0"/>
          </a:p>
        </p:txBody>
      </p:sp>
      <p:graphicFrame>
        <p:nvGraphicFramePr>
          <p:cNvPr id="5" name="Zástupný objekt pre obsah 2">
            <a:extLst>
              <a:ext uri="{FF2B5EF4-FFF2-40B4-BE49-F238E27FC236}">
                <a16:creationId xmlns:a16="http://schemas.microsoft.com/office/drawing/2014/main" id="{647DBB19-DFC4-1E25-C931-8AE803502D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0694151"/>
              </p:ext>
            </p:extLst>
          </p:nvPr>
        </p:nvGraphicFramePr>
        <p:xfrm>
          <a:off x="1024128" y="2286000"/>
          <a:ext cx="1019156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Zástupný objekt pre číslo snímky 2">
            <a:extLst>
              <a:ext uri="{FF2B5EF4-FFF2-40B4-BE49-F238E27FC236}">
                <a16:creationId xmlns:a16="http://schemas.microsoft.com/office/drawing/2014/main" id="{A0B0BF8A-23F0-A81E-3638-73E2372D5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9173" y="6511344"/>
            <a:ext cx="973667" cy="274320"/>
          </a:xfrm>
        </p:spPr>
        <p:txBody>
          <a:bodyPr/>
          <a:lstStyle/>
          <a:p>
            <a:pPr rtl="0"/>
            <a:fld id="{4FAB73BC-B049-4115-A692-8D63A059BFB8}" type="slidenum">
              <a:rPr lang="sk-SK" sz="1600" noProof="0" smtClean="0">
                <a:solidFill>
                  <a:srgbClr val="00B0F0"/>
                </a:solidFill>
              </a:rPr>
              <a:t>15</a:t>
            </a:fld>
            <a:endParaRPr lang="sk-SK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5418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dĺžnik 18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sk-SK" dirty="0"/>
          </a:p>
        </p:txBody>
      </p:sp>
      <p:pic>
        <p:nvPicPr>
          <p:cNvPr id="5" name="Obrázok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2444" b="-1"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21" name="Obdĺžnik 20">
            <a:extLst>
              <a:ext uri="{FF2B5EF4-FFF2-40B4-BE49-F238E27FC236}">
                <a16:creationId xmlns:a16="http://schemas.microsoft.com/office/drawing/2014/main" id="{EAA48FC5-3C83-4F1B-BC33-DF0B588F8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sk-SK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E3D84FB-5D02-47D2-98FD-4F01A02E2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9349" y="3429000"/>
            <a:ext cx="7501651" cy="1090938"/>
          </a:xfrm>
        </p:spPr>
        <p:txBody>
          <a:bodyPr rtlCol="0" anchor="b">
            <a:normAutofit/>
          </a:bodyPr>
          <a:lstStyle/>
          <a:p>
            <a:pPr algn="l"/>
            <a:r>
              <a:rPr lang="en-US" dirty="0">
                <a:solidFill>
                  <a:srgbClr val="FFFFFF"/>
                </a:solidFill>
              </a:rPr>
              <a:t>Thank you for your attention</a:t>
            </a:r>
            <a:endParaRPr lang="sk-SK" dirty="0">
              <a:solidFill>
                <a:srgbClr val="FFFFFF"/>
              </a:solidFill>
            </a:endParaRPr>
          </a:p>
        </p:txBody>
      </p:sp>
      <p:cxnSp>
        <p:nvCxnSpPr>
          <p:cNvPr id="23" name="Priama spojnica 22">
            <a:extLst>
              <a:ext uri="{FF2B5EF4-FFF2-40B4-BE49-F238E27FC236}">
                <a16:creationId xmlns:a16="http://schemas.microsoft.com/office/drawing/2014/main" id="{62F01714-1A39-4194-BD47-8A9960C59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09349" y="4666480"/>
            <a:ext cx="6832499" cy="0"/>
          </a:xfrm>
          <a:prstGeom prst="line">
            <a:avLst/>
          </a:prstGeom>
          <a:ln w="22225">
            <a:solidFill>
              <a:srgbClr val="4AC4E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54750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álny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6779_TF22378848.potx" id="{35991936-50A3-4ABA-ADE4-70946498CD53}" vid="{05B68BCB-93A0-41E9-9DA6-37B539C060D1}"/>
    </a:ext>
  </a:extLst>
</a:theme>
</file>

<file path=ppt/theme/theme2.xml><?xml version="1.0" encoding="utf-8"?>
<a:theme xmlns:a="http://schemas.openxmlformats.org/drawingml/2006/main" name="Motív balík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ív balík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88A2F88-55C5-4ED1-9541-807C65424763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61EAB5F-88FC-4FAE-AE3C-037A3C365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Návrh Integrál</Template>
  <TotalTime>3662</TotalTime>
  <Words>1348</Words>
  <Application>Microsoft Office PowerPoint</Application>
  <PresentationFormat>Širokouhlá</PresentationFormat>
  <Paragraphs>238</Paragraphs>
  <Slides>16</Slides>
  <Notes>2</Notes>
  <HiddenSlides>0</HiddenSlides>
  <MMClips>0</MMClips>
  <ScaleCrop>false</ScaleCrop>
  <HeadingPairs>
    <vt:vector size="6" baseType="variant">
      <vt:variant>
        <vt:lpstr>Použité písma</vt:lpstr>
      </vt:variant>
      <vt:variant>
        <vt:i4>6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16</vt:i4>
      </vt:variant>
    </vt:vector>
  </HeadingPairs>
  <TitlesOfParts>
    <vt:vector size="23" baseType="lpstr">
      <vt:lpstr>Arial</vt:lpstr>
      <vt:lpstr>Calibri</vt:lpstr>
      <vt:lpstr>Noto Sans Mono</vt:lpstr>
      <vt:lpstr>Tw Cen MT</vt:lpstr>
      <vt:lpstr>Tw Cen MT Condensed</vt:lpstr>
      <vt:lpstr>Wingdings 3</vt:lpstr>
      <vt:lpstr>Integrálny</vt:lpstr>
      <vt:lpstr>AUTOMATED EVALUATION OF THE REY-OSTERRIETH COMPLEX IMAGE TEST</vt:lpstr>
      <vt:lpstr>REY-OSTERRIETH COMPLEX Figure (ROCF) TEST</vt:lpstr>
      <vt:lpstr>Objective of the thesis</vt:lpstr>
      <vt:lpstr>Dataset and libraries</vt:lpstr>
      <vt:lpstr>Evaluation method</vt:lpstr>
      <vt:lpstr>Initial model and augmentation experiments</vt:lpstr>
      <vt:lpstr>Model comparison without augmentations</vt:lpstr>
      <vt:lpstr>ResNet-18 augmentation test results</vt:lpstr>
      <vt:lpstr>Validation Accuracy Curves of Resnet-18 models</vt:lpstr>
      <vt:lpstr>Swin transformer augmentation test results</vt:lpstr>
      <vt:lpstr>Future plans</vt:lpstr>
      <vt:lpstr>Future plans</vt:lpstr>
      <vt:lpstr>Previous work</vt:lpstr>
      <vt:lpstr>references</vt:lpstr>
      <vt:lpstr>Master’s Thesis sources</vt:lpstr>
      <vt:lpstr>Thank you for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Lucia Korbeľová</dc:creator>
  <cp:lastModifiedBy>Lucia Korbeľová</cp:lastModifiedBy>
  <cp:revision>4</cp:revision>
  <dcterms:created xsi:type="dcterms:W3CDTF">2025-02-03T19:02:28Z</dcterms:created>
  <dcterms:modified xsi:type="dcterms:W3CDTF">2025-11-21T12:20:49Z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